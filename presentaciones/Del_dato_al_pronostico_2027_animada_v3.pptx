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Override PartName="/ppt/slides/slide15.xml" ContentType="application/vnd.openxmlformats-officedocument.presentationml.slide+xml"/>
  <Override PartName="/ppt/slides/charts/visual_chart1.xml" ContentType="application/vnd.openxmlformats-officedocument.drawingml.chart+xml"/>
  <Override PartName="/ppt/slides/charts/visual_chart2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AddedRegression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AddedRegression" Type="http://schemas.openxmlformats.org/officeDocument/2006/relationships/slide" Target="slides/slide1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Dato real</c:v>
                </c:pt>
              </c:strCache>
            </c:strRef>
          </c:tx>
          <c:spPr>
            <a:ln w="31750">
              <a:solidFill>
                <a:srgbClr val="F27E20"/>
              </a:solidFill>
            </a:ln>
          </c:spPr>
          <c:marker>
            <c:symbol val="diamond"/>
            <c:size val="8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2.64</c:v>
                </c:pt>
                <c:pt idx="1">
                  <c:v>2.32</c:v>
                </c:pt>
                <c:pt idx="2">
                  <c:v>4.68</c:v>
                </c:pt>
                <c:pt idx="3">
                  <c:v>2.51</c:v>
                </c:pt>
                <c:pt idx="4">
                  <c:v>3.46</c:v>
                </c:pt>
                <c:pt idx="5">
                  <c:v>9.91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24-44A8-9E14-D546D6459D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Tendencia normal del modelo</c:v>
                </c:pt>
              </c:strCache>
            </c:strRef>
          </c:tx>
          <c:spPr>
            <a:ln w="25400">
              <a:solidFill>
                <a:srgbClr val="6B7280"/>
              </a:solidFill>
              <a:prstDash val="dash"/>
            </a:ln>
          </c:spPr>
          <c:marker>
            <c:symbol val="diamond"/>
            <c:size val="6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2.847619</c:v>
                </c:pt>
                <c:pt idx="1">
                  <c:v>2.94619048</c:v>
                </c:pt>
                <c:pt idx="2">
                  <c:v>3.10761905</c:v>
                </c:pt>
                <c:pt idx="3">
                  <c:v>3.26904762</c:v>
                </c:pt>
                <c:pt idx="4">
                  <c:v>3.43047619</c:v>
                </c:pt>
                <c:pt idx="5">
                  <c:v>3.59190476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24-44A8-9E14-D546D6459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2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Loop" Type="http://schemas.openxmlformats.org/officeDocument/2006/relationships/image" Target="../media/ciclo_noche_dia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8779ad44a0704427"/><Relationship Type="http://schemas.openxmlformats.org/officeDocument/2006/relationships/chart" Target="charts/visual_chart1.xml" Id="R93701f06ed054e06"/><Relationship Type="http://schemas.openxmlformats.org/officeDocument/2006/relationships/chart" Target="charts/visual_chart2.xml" Id="R1b52028ded924806"/></Relationships>
</file>

<file path=ppt/slides/charts/_rels/visual_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visual_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visual_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Estudiantes</c:v>
          </c:tx>
          <c:spPr>
            <a:solidFill xmlns:a="http://schemas.openxmlformats.org/drawingml/2006/main">
              <a:srgbClr val="334155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4.5</c:v>
                </c:pt>
                <c:pt idx="1">
                  <c:v>5.6</c:v>
                </c:pt>
                <c:pt idx="2">
                  <c:v>5.1</c:v>
                </c:pt>
                <c:pt idx="3">
                  <c:v>6.4</c:v>
                </c:pt>
                <c:pt idx="4">
                  <c:v>6.1</c:v>
                </c:pt>
                <c:pt idx="5">
                  <c:v>7.8</c:v>
                </c:pt>
                <c:pt idx="6">
                  <c:v>7.4</c:v>
                </c:pt>
                <c:pt idx="7">
                  <c:v>8.7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Calificación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Horas de estudio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visual_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Estudiantes</c:v>
          </c:tx>
          <c:spPr>
            <a:solidFill xmlns:a="http://schemas.openxmlformats.org/drawingml/2006/main">
              <a:srgbClr val="334155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4.5</c:v>
                </c:pt>
                <c:pt idx="1">
                  <c:v>5.6</c:v>
                </c:pt>
                <c:pt idx="2">
                  <c:v>5.1</c:v>
                </c:pt>
                <c:pt idx="3">
                  <c:v>6.4</c:v>
                </c:pt>
                <c:pt idx="4">
                  <c:v>6.1</c:v>
                </c:pt>
                <c:pt idx="5">
                  <c:v>7.8</c:v>
                </c:pt>
                <c:pt idx="6">
                  <c:v>7.4</c:v>
                </c:pt>
                <c:pt idx="7">
                  <c:v>8.7</c:v>
                </c:pt>
              </c:numCache>
            </c:numRef>
          </c:yVal>
        </c:ser>
        <c:ser>
          <c:idx val="1"/>
          <c:order val="1"/>
          <c:tx>
            <c:v>Recta de regresión</c:v>
          </c:tx>
          <c:spPr>
            <a:ln xmlns:a="http://schemas.openxmlformats.org/drawingml/2006/main" w="28575">
              <a:solidFill>
                <a:srgbClr val="F27E2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9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3.975</c:v>
                </c:pt>
                <c:pt idx="1">
                  <c:v>8.925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Calificación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Horas de estudio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78992"/>
            <a:ext cx="10789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3400" b="1" dirty="0">
                <a:solidFill>
                  <a:srgbClr val="1F2937"/>
                </a:solidFill>
                <a:latin typeface="Aptos"/>
              </a:rPr>
              <a:t>Proyección Electoral – Movimiento Ciudadano 2027</a:t>
            </a:r>
            <a:endParaRPr sz="34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47088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2700" b="1" dirty="0">
                <a:solidFill>
                  <a:srgbClr val="D66000"/>
                </a:solidFill>
                <a:latin typeface="Aptos"/>
              </a:rPr>
              <a:t>Del dato al pronóstico ¿</a:t>
            </a:r>
            <a:r>
              <a:rPr sz="2700" b="1" dirty="0" err="1">
                <a:solidFill>
                  <a:srgbClr val="D66000"/>
                </a:solidFill>
                <a:latin typeface="Aptos"/>
              </a:rPr>
              <a:t>Cómo</a:t>
            </a:r>
            <a:r>
              <a:rPr sz="2700" b="1" dirty="0">
                <a:solidFill>
                  <a:srgbClr val="D66000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D66000"/>
                </a:solidFill>
                <a:latin typeface="Aptos"/>
              </a:rPr>
              <a:t>llegamos</a:t>
            </a:r>
            <a:r>
              <a:rPr sz="2700" b="1" dirty="0">
                <a:solidFill>
                  <a:srgbClr val="D66000"/>
                </a:solidFill>
                <a:latin typeface="Aptos"/>
              </a:rPr>
              <a:t> a</a:t>
            </a:r>
            <a:r>
              <a:rPr lang="es-MX" sz="2700" b="1" dirty="0">
                <a:solidFill>
                  <a:srgbClr val="D66000"/>
                </a:solidFill>
                <a:latin typeface="Aptos"/>
              </a:rPr>
              <a:t>l</a:t>
            </a:r>
            <a:r>
              <a:rPr sz="2700" b="1" dirty="0">
                <a:solidFill>
                  <a:srgbClr val="D66000"/>
                </a:solidFill>
                <a:latin typeface="Aptos"/>
              </a:rPr>
              <a:t> 2027</a:t>
            </a:r>
            <a:r>
              <a:rPr lang="es-MX" sz="2700" b="1" dirty="0">
                <a:solidFill>
                  <a:srgbClr val="D66000"/>
                </a:solidFill>
                <a:latin typeface="Aptos"/>
              </a:rPr>
              <a:t>?</a:t>
            </a:r>
            <a:endParaRPr sz="2700" b="1" dirty="0">
              <a:solidFill>
                <a:srgbClr val="D66000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723617"/>
            <a:ext cx="10744200" cy="123444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99793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66000"/>
                </a:solidFill>
                <a:latin typeface="Aptos"/>
              </a:rPr>
              <a:t>La idea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226537"/>
            <a:ext cx="96926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1F2937"/>
                </a:solidFill>
                <a:latin typeface="Aptos"/>
              </a:rPr>
              <a:t>No 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pretendemos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adivina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r el resultado del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2027. Estamos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construyendo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una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regla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,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comprobando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si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describe bien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el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pasado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y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después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extendiéndola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al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siguiente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periodo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"/>
          <p:cNvPicPr>
            <a:picLocks noChangeAspect="1"/>
          </p:cNvPicPr>
          <p:nvPr/>
        </p:nvPicPr>
        <p:blipFill>
          <a:blip r:embed="rIdLoop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solidFill>
            <a:srgbClr val="FFFFFF">
              <a:alpha val="93000"/>
            </a:srgb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Antes de empezar: ¿qué es un modelo de predicción?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241280" cy="1005840"/>
          </a:xfrm>
          <a:prstGeom prst="rect">
            <a:avLst/>
          </a:prstGeom>
          <a:solidFill>
            <a:srgbClr val="FFFFFF">
              <a:alpha val="93000"/>
            </a:srgbClr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Un modelo de predicción es, en palabras muy simples, una regla que construimos usando lo que ya ocurrió para hacer una estimación sobre lo que podría ocurrir después.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54787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D5500"/>
                </a:solidFill>
                <a:latin typeface="Aptos"/>
              </a:rPr>
              <a:t>Mira el pasado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6908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Usa datos que ya conocemos.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4041648"/>
            <a:ext cx="548640" cy="0"/>
          </a:xfrm>
          <a:prstGeom prst="line">
            <a:avLst/>
          </a:prstGeom>
          <a:ln w="29209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354787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D5500"/>
                </a:solidFill>
                <a:latin typeface="Aptos"/>
              </a:rPr>
              <a:t>Busca un patrón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977639"/>
            <a:ext cx="26060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Intenta encontrar una regla que describa lo que suele pasar.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01000" y="4041648"/>
            <a:ext cx="548640" cy="0"/>
          </a:xfrm>
          <a:prstGeom prst="line">
            <a:avLst/>
          </a:prstGeom>
          <a:ln w="29209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95360" y="3246120"/>
            <a:ext cx="2697480" cy="16002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354787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D5500"/>
                </a:solidFill>
                <a:latin typeface="Aptos"/>
              </a:rPr>
              <a:t>Estima lo siguiente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0233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Aplica esa regla al siguiente periodo.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532120"/>
            <a:ext cx="9692640" cy="457200"/>
          </a:xfrm>
          <a:prstGeom prst="rect">
            <a:avLst/>
          </a:prstGeom>
          <a:solidFill>
            <a:srgbClr val="FFFFFF">
              <a:alpha val="93000"/>
            </a:srgb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No “ve” el futuro. Usa información del pasado para hacer una estimación razonada.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solidFill>
            <a:srgbClr val="FFFFFF">
              <a:alpha val="93000"/>
            </a:srgbClr>
          </a:solidFill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Un modelo no es una bola de cristal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4983480" cy="32461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02996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D5500"/>
                </a:solidFill>
                <a:latin typeface="Aptos"/>
              </a:rPr>
              <a:t>Lo que SÍ hace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2519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Ordena la información.
• Busca relaciones que se repiten.
• Resume esas relaciones en una regla.
• Produce una estimación para el siguiente periodo.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4983480" cy="3246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02996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Lo que NO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2519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No garantiza el resultado.
• No sabe qué eventos inesperados ocurrirán.
• No convierte una elección futura en algo seguro.
• Puede equivocarse.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4068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La pregunta correcta no es “¿el modelo sabe el futuro?”, sino “¿la regla que construimos tiene sentido y describe bien lo que ya ocurrió?”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Partimos de una pregunta, no de una fórmula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1F2937"/>
                </a:solidFill>
                <a:latin typeface="Aptos"/>
              </a:rPr>
              <a:t>Imagina que tenemos varios resultados reales de elecciones pasadas y queremos construir una regla que describa cómo se comportan.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63240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D66000"/>
                </a:solidFill>
                <a:latin typeface="Aptos"/>
              </a:rPr>
              <a:t>El problema es que los datos reales nunca forman una línea perfecta.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ptos"/>
              </a:rPr>
              <a:t>Hay elecciones mejores, peores, anomalías, candidatos distintos y contextos que cambian.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4572000"/>
            <a:ext cx="658368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482803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Por eso necesitamos separar tres tareas distintas.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Antes de hablar de estadística, necesitamos tres cosas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" y="2103120"/>
            <a:ext cx="502920" cy="502920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185415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93976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Una forma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79191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Aptos"/>
              </a:rPr>
              <a:t>Una regla que diga cómo creemos que se comporta el fenómeno.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17136" y="2103120"/>
            <a:ext cx="502920" cy="502920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2185415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2093976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Una forma de encontrar sus mejores valores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7482" y="3079245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6B7280"/>
                </a:solidFill>
                <a:latin typeface="Aptos"/>
              </a:rPr>
              <a:t>No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elegirlos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“a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ojo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”,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sino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buscar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los que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mejor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reproduzcan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lo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observado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1874519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01584" y="2103120"/>
            <a:ext cx="502920" cy="502920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1584" y="2185415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093976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Una forma de medir qué tan bien funciona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679191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Aptos"/>
              </a:rPr>
              <a:t>Comprobar si la regla realmente explica una parte importante de lo ocurrido.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8348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Son tres preguntas diferentes. Y conviene no mezclarlas.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En nuestro caso, esas tres cosas tienen nombre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85190"/>
            <a:ext cx="310896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dirty="0">
                <a:solidFill>
                  <a:srgbClr val="D66000"/>
                </a:solidFill>
                <a:latin typeface="Aptos"/>
              </a:rPr>
              <a:t>REGRESIÓN
</a:t>
            </a:r>
            <a:r>
              <a:rPr lang="es-MX" sz="2200" b="1" dirty="0">
                <a:solidFill>
                  <a:srgbClr val="D66000"/>
                </a:solidFill>
                <a:latin typeface="Aptos"/>
              </a:rPr>
              <a:t>LINEAL SIMPLE</a:t>
            </a:r>
            <a:endParaRPr sz="2200" b="1" dirty="0">
              <a:solidFill>
                <a:srgbClr val="D6600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¿Qué forma tiene nuestro modelo?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8288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2148840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dirty="0">
                <a:solidFill>
                  <a:srgbClr val="D66000"/>
                </a:solidFill>
                <a:latin typeface="Aptos"/>
              </a:rPr>
              <a:t>MÍNIMOS
CUADRADOS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32461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¿Qué valores hacen que se equivoque lo menos posible?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8288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37575" y="2148840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D66000"/>
                </a:solidFill>
                <a:latin typeface="Aptos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5" y="32461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¿Qué tanto del comportamiento histórico consigue explicar?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La regresión define la forma. Mínimos cuadrados calibra. R² evalúa.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1. Primero damos una forma al comportamiento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La mayoría de los periodos siguen una trayectoria gradual; 2024 se separa claramente.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3736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01000" y="1920240"/>
            <a:ext cx="3337560" cy="356616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221284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66000"/>
                </a:solidFill>
                <a:latin typeface="Aptos"/>
              </a:rPr>
              <a:t>¿Qué vemos?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697480"/>
            <a:ext cx="269748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En los primeros periodos, una tendencia sencilla es razonable.
• En el periodo 6 (2024), el dato real sube a 9.91.
• Una recta sola ya no cuenta toda la historia.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Por eso usamos una regresión modificada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No abandonamos la tendencia normal. Le añadimos una forma de representar el efecto extraordinario.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331720"/>
            <a:ext cx="4434840" cy="11887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514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D66000"/>
                </a:solidFill>
                <a:latin typeface="Aptos"/>
              </a:rPr>
              <a:t>Años normales:   Y = mx +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331720"/>
            <a:ext cx="4434840" cy="11887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514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D66000"/>
                </a:solidFill>
                <a:latin typeface="Aptos"/>
              </a:rPr>
              <a:t>2024:   Y = (mx + b) × 2.83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926080"/>
            <a:ext cx="685800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4069080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B7280"/>
                </a:solidFill>
                <a:latin typeface="Aptos"/>
              </a:rPr>
              <a:t>2.83 no aparece “por magia”. Representa que en 2024 el resultado observado fue aproximadamente 2.83 veces la base normal del modelo.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074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Aptos"/>
              </a:rPr>
              <a:t>Y como </a:t>
            </a:r>
            <a:r>
              <a:rPr sz="1900" b="1">
                <a:solidFill>
                  <a:srgbClr val="D66000"/>
                </a:solidFill>
                <a:latin typeface="Aptos"/>
              </a:rPr>
              <a:t>2.83 = 1 + 1.83</a:t>
            </a:r>
            <a:r>
              <a:rPr sz="1600" b="0">
                <a:solidFill>
                  <a:srgbClr val="1F2937"/>
                </a:solidFill>
                <a:latin typeface="Aptos"/>
              </a:rPr>
              <a:t>, podemos separar la parte normal de la parte extraordinaria.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¿Qué significa 1 + 1.83r?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0" y="1554480"/>
            <a:ext cx="4480560" cy="11430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9080" y="17373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D66000"/>
                </a:solidFill>
                <a:latin typeface="Aptos"/>
              </a:rPr>
              <a:t>1 + 1.83r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566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6600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La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1596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ptos"/>
              </a:rPr>
              <a:t>Conserva el 100% del comportamiento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063240"/>
            <a:ext cx="3566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66000"/>
                </a:solidFill>
                <a:latin typeface="Aptos"/>
              </a:rPr>
              <a:t>1.83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El efecto extraordinario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31596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ptos"/>
              </a:rPr>
              <a:t>Es el exceso observado en 2024 por encima de la base normal.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3063240"/>
            <a:ext cx="3566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37575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66000"/>
                </a:solidFill>
                <a:latin typeface="Apto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5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La retención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431596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ptos"/>
              </a:rPr>
              <a:t>Representa qué parte de ese efecto extraordinario suponemos que permanece.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r = 0  → no retenemos el efecto extra     |     r = 1  → retenemos todo el efecto extra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2. Después evitamos elegir los valores “a ojo”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66000"/>
                </a:solidFill>
                <a:latin typeface="Aptos"/>
              </a:rPr>
              <a:t>Aquí entran los mínimos cuadrados.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48006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La idea es sencilla: comparar lo que realmente ocurrió con lo que dice el modelo y buscar los valores que hagan esas diferencias lo más pequeñas posible en conjunto.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0" y="201168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242048" y="193852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08392" y="194767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315200" y="2011680"/>
            <a:ext cx="45720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274320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45168" y="267004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05672" y="267919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869680" y="2743200"/>
            <a:ext cx="54864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365760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90688" y="358444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48471" y="359359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7863840" y="3657600"/>
            <a:ext cx="54864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457200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985248" y="449884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28632" y="450799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9692640" y="4572000"/>
            <a:ext cx="36576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50749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D66000"/>
                </a:solidFill>
                <a:latin typeface="Aptos"/>
              </a:rPr>
              <a:t>●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07492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● modelo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4800600" cy="146304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2336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66000"/>
                </a:solidFill>
                <a:latin typeface="Aptos"/>
              </a:rPr>
              <a:t>Resultado del ajuste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26864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ptos"/>
              </a:rPr>
              <a:t>SSE = 3.527548475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4748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Es el error cuadrático que queda después de ajustar el modelo.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3. Finalmente preguntamos: ¿esa regla explica bien lo que ocurrió?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Aptos"/>
              </a:rPr>
              <a:t>Para saber si el error es grande o pequeño, lo comparamos con toda la variación que había en los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3017520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Variación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Aptos"/>
              </a:rPr>
              <a:t>SST = 42.1891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017520" cy="20574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26060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D66000"/>
                </a:solidFill>
                <a:latin typeface="Aptos"/>
              </a:rPr>
              <a:t>Error que queda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Aptos"/>
              </a:rPr>
              <a:t>SSE = 3.5275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0175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D66000"/>
                </a:solidFill>
                <a:latin typeface="Aptos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9260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Aptos"/>
              </a:rPr>
              <a:t>91.64%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75887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del comportamiento observado es explicado por esta especificación del modelo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892040"/>
            <a:ext cx="5349240" cy="82296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5074920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D66000"/>
                </a:solidFill>
                <a:latin typeface="Aptos"/>
              </a:rPr>
              <a:t>R² = 1 − SSE / SST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DC2626"/>
                </a:solidFill>
                <a:latin typeface="Aptos"/>
              </a:rPr>
              <a:t>Importante: 91.64% habla del ajuste al pasado; no significa 91.64% de probabilidad de acertar 2027.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Ahora sí: ¿cómo llegamos al Periodo 7 (2027)?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39112" y="2011680"/>
            <a:ext cx="621792" cy="621792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39112" y="21854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Aptos"/>
              </a:rPr>
              <a:t>Extendemos la tendencia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8444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0">
                <a:solidFill>
                  <a:srgbClr val="6B7280"/>
                </a:solidFill>
                <a:latin typeface="Aptos"/>
              </a:rPr>
              <a:t>La base proyectada del modelo para el siguiente periodo es 3.7533.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3154680"/>
            <a:ext cx="36575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33087" y="178308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40679" y="2011680"/>
            <a:ext cx="621792" cy="621792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1854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85292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Aptos"/>
              </a:rPr>
              <a:t>No inventamos una regla nueva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7" y="358444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0">
                <a:solidFill>
                  <a:srgbClr val="6B7280"/>
                </a:solidFill>
                <a:latin typeface="Aptos"/>
              </a:rPr>
              <a:t>Usamos la misma lógica que separó base normal y efecto extraordinario.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24927" y="3154680"/>
            <a:ext cx="36577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34656" y="178308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42248" y="2011680"/>
            <a:ext cx="621792" cy="621792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42248" y="21854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85292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Aptos"/>
              </a:rPr>
              <a:t>Aplicamos la retención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58444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0">
                <a:solidFill>
                  <a:srgbClr val="6B7280"/>
                </a:solidFill>
                <a:latin typeface="Aptos"/>
              </a:rPr>
              <a:t>El efecto de 2024 entra mediante el factor 1 + 1.83r.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983480"/>
            <a:ext cx="6355080" cy="9601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4680" y="51663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D66000"/>
                </a:solidFill>
                <a:latin typeface="Aptos"/>
              </a:rPr>
              <a:t>Ŷ₇ = 3.7533 × (1 + 1.83r)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¿Qué significa realmente el pronóstico de 2027?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212080" cy="361188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66000"/>
                </a:solidFill>
                <a:latin typeface="Aptos"/>
              </a:rPr>
              <a:t>Sí podemos 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06040"/>
            <a:ext cx="443484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La forma del modelo reproduce razonablemente bien el pasado.
• La base normal para el Periodo 7 surge de extender la tendencia.
• El término r hace explícito cuánto del efecto extraordinario de 2024 suponemos que permanece.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12080" cy="3611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Aptos"/>
              </a:rPr>
              <a:t>No debemos decir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06040"/>
            <a:ext cx="443484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Que R² = 91.64% es una probabilidad de acertar.
• Que el futuro repetirá exactamente el pasado.
• Que el valor final es una certeza si r no ha sido fijado con un criterio independiente.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7150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La conclusión correcta es una proyección condicionada: “si esta relación se mantiene, el modelo produce este resultado”.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La idea completa, en una sola imagen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Aptos"/>
              </a:rPr>
              <a:t>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Lo que ocurrió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87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D66000"/>
                </a:solidFill>
                <a:latin typeface="Aptos"/>
              </a:rPr>
              <a:t>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Regresión modificada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3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Aptos"/>
              </a:rPr>
              <a:t>CALIBRACIÓN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Mínimos cuadrados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Aptos"/>
              </a:rPr>
              <a:t>EVALUACIÓN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R² = 91.64%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45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D66000"/>
                </a:solidFill>
                <a:latin typeface="Aptos"/>
              </a:rPr>
              <a:t>PRONÓSTICO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Periodo 7 ·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34840"/>
            <a:ext cx="10332720" cy="11430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68172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No llegamos a 2027 porque una fórmula “adivine” el futuro. Llegamos porque construimos una regla, la contrastamos con el pasado y la extendemos al siguiente periodo dejando claros sus supuestos.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512A4-F794-4AD6-9894-0224D2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7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¿Qué es la regresión lineal simple?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DA73-6C08-4D36-B0CE-9B4292E2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4425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E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1CF8D-1FBA-417C-A8B1-3C4EA97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1. Observamos los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EC4CF-810D-4ECE-A600-36549CF6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382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55A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C55A11"/>
                </a:solidFill>
                <a:latin typeface="Aptos"/>
                <a:ea typeface="Aptos"/>
                <a:cs typeface="Aptos"/>
              </a:rPr>
              <a:t>2. Encontramos una tendencia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52387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701f06ed054e06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381750" y="1990725"/>
          <a:ext xmlns:a="http://schemas.openxmlformats.org/drawingml/2006/main" cx="52387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52028ded92480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09F3C-B7F6-4DA6-A85A-AE7FB1AE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Cada punto representa a un estudiante.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7D0D1-1597-43B3-AD65-74599CB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1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55A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5A11"/>
                </a:solidFill>
                <a:latin typeface="Aptos"/>
                <a:ea typeface="Aptos"/>
                <a:cs typeface="Aptos"/>
              </a:rPr>
              <a:t>La recta resume la tendencia de los puntos.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2337B-EF1E-4270-A97D-09167794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7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Usamos esa recta para estimar una cantidad a partir de otra.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21BE7-46FE-4B4D-9454-4CF37E4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Ejemplo ficticio con fines explicativos.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40D32-C72C-48ED-BE1C-3A00F19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29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39391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1112</Words>
  <Application>Microsoft Office PowerPoint</Application>
  <PresentationFormat>Panorámica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2026-09-14T20:25:23Z</dcterms:modified>
  <cp:category/>
</cp:coreProperties>
</file>