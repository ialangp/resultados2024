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Dato real</c:v>
                </c:pt>
              </c:strCache>
            </c:strRef>
          </c:tx>
          <c:spPr>
            <a:ln w="31750">
              <a:solidFill>
                <a:srgbClr val="F27E20"/>
              </a:solidFill>
            </a:ln>
          </c:spPr>
          <c:marker>
            <c:symbol val="diamond"/>
            <c:size val="8"/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2.64</c:v>
                </c:pt>
                <c:pt idx="1">
                  <c:v>2.3199999999999998</c:v>
                </c:pt>
                <c:pt idx="2">
                  <c:v>4.68</c:v>
                </c:pt>
                <c:pt idx="3">
                  <c:v>2.5099999999999998</c:v>
                </c:pt>
                <c:pt idx="4">
                  <c:v>3.46</c:v>
                </c:pt>
                <c:pt idx="5">
                  <c:v>9.91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24-44A8-9E14-D546D6459D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Tendencia normal del modelo</c:v>
                </c:pt>
              </c:strCache>
            </c:strRef>
          </c:tx>
          <c:spPr>
            <a:ln w="25400">
              <a:solidFill>
                <a:srgbClr val="6B7280"/>
              </a:solidFill>
              <a:prstDash val="dash"/>
            </a:ln>
          </c:spPr>
          <c:marker>
            <c:symbol val="diamond"/>
            <c:size val="6"/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2.8476189999999999</c:v>
                </c:pt>
                <c:pt idx="1">
                  <c:v>2.9461904799999998</c:v>
                </c:pt>
                <c:pt idx="2">
                  <c:v>3.1076190499999998</c:v>
                </c:pt>
                <c:pt idx="3">
                  <c:v>3.2690476199999998</c:v>
                </c:pt>
                <c:pt idx="4">
                  <c:v>3.4304761899999998</c:v>
                </c:pt>
                <c:pt idx="5">
                  <c:v>3.5919047599999998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24-44A8-9E14-D546D6459D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  <c:majorUnit val="2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78992"/>
            <a:ext cx="1078992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3400" b="1" dirty="0">
                <a:solidFill>
                  <a:srgbClr val="1F2937"/>
                </a:solidFill>
                <a:latin typeface="Aptos"/>
              </a:rPr>
              <a:t>Proyección Electoral – Movimiento Ciudadano 2027</a:t>
            </a:r>
            <a:endParaRPr sz="34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847088"/>
            <a:ext cx="7026593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MX" sz="2700" b="1" dirty="0">
                <a:solidFill>
                  <a:srgbClr val="D66000"/>
                </a:solidFill>
                <a:latin typeface="Aptos"/>
              </a:rPr>
              <a:t>Del dato al pronóstico ¿</a:t>
            </a:r>
            <a:r>
              <a:rPr sz="2700" b="1" dirty="0" err="1">
                <a:solidFill>
                  <a:srgbClr val="D66000"/>
                </a:solidFill>
                <a:latin typeface="Aptos"/>
              </a:rPr>
              <a:t>Cómo</a:t>
            </a:r>
            <a:r>
              <a:rPr sz="2700" b="1" dirty="0">
                <a:solidFill>
                  <a:srgbClr val="D66000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D66000"/>
                </a:solidFill>
                <a:latin typeface="Aptos"/>
              </a:rPr>
              <a:t>llegamos</a:t>
            </a:r>
            <a:r>
              <a:rPr sz="2700" b="1" dirty="0">
                <a:solidFill>
                  <a:srgbClr val="D66000"/>
                </a:solidFill>
                <a:latin typeface="Aptos"/>
              </a:rPr>
              <a:t> a</a:t>
            </a:r>
            <a:r>
              <a:rPr lang="es-MX" sz="2700" b="1" dirty="0">
                <a:solidFill>
                  <a:srgbClr val="D66000"/>
                </a:solidFill>
                <a:latin typeface="Aptos"/>
              </a:rPr>
              <a:t>l</a:t>
            </a:r>
            <a:r>
              <a:rPr sz="2700" b="1" dirty="0">
                <a:solidFill>
                  <a:srgbClr val="D66000"/>
                </a:solidFill>
                <a:latin typeface="Aptos"/>
              </a:rPr>
              <a:t> 2027</a:t>
            </a:r>
            <a:r>
              <a:rPr lang="es-MX" sz="2700" b="1" dirty="0">
                <a:solidFill>
                  <a:srgbClr val="D66000"/>
                </a:solidFill>
                <a:latin typeface="Aptos"/>
              </a:rPr>
              <a:t>?</a:t>
            </a:r>
            <a:endParaRPr sz="2700" b="1" dirty="0">
              <a:solidFill>
                <a:srgbClr val="D66000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3723616"/>
            <a:ext cx="10744200" cy="1548471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3997937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D66000"/>
                </a:solidFill>
                <a:latin typeface="Aptos"/>
              </a:rPr>
              <a:t>La idea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269401"/>
            <a:ext cx="969264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es-MX" b="1" dirty="0">
                <a:solidFill>
                  <a:srgbClr val="1F2937"/>
                </a:solidFill>
                <a:latin typeface="Aptos"/>
              </a:rPr>
              <a:t>A través del modelado de predicción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s-MX" b="1" dirty="0">
                <a:solidFill>
                  <a:srgbClr val="1F2937"/>
                </a:solidFill>
                <a:latin typeface="Aptos"/>
              </a:rPr>
              <a:t>e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stamos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construyendo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s-MX" b="1" dirty="0">
                <a:solidFill>
                  <a:srgbClr val="1F2937"/>
                </a:solidFill>
                <a:latin typeface="Aptos"/>
              </a:rPr>
              <a:t>un algoritmo que funcione como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regla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, </a:t>
            </a:r>
            <a:r>
              <a:rPr lang="es-MX" sz="1800" b="1" dirty="0">
                <a:solidFill>
                  <a:srgbClr val="1F2937"/>
                </a:solidFill>
                <a:latin typeface="Aptos"/>
              </a:rPr>
              <a:t>que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describ</a:t>
            </a:r>
            <a:r>
              <a:rPr lang="es-MX" sz="1800" b="1" dirty="0">
                <a:solidFill>
                  <a:srgbClr val="1F2937"/>
                </a:solidFill>
                <a:latin typeface="Aptos"/>
              </a:rPr>
              <a:t>a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bien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el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pasado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lang="es-MX" sz="1800" b="1" dirty="0">
                <a:solidFill>
                  <a:srgbClr val="1F2937"/>
                </a:solidFill>
                <a:latin typeface="Aptos"/>
              </a:rPr>
              <a:t>de la forma más fiable posible para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después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exten</a:t>
            </a:r>
            <a:r>
              <a:rPr lang="es-MX" sz="1800" b="1" dirty="0" err="1">
                <a:solidFill>
                  <a:srgbClr val="1F2937"/>
                </a:solidFill>
                <a:latin typeface="Aptos"/>
              </a:rPr>
              <a:t>derla</a:t>
            </a:r>
            <a:r>
              <a:rPr lang="es-MX" sz="1800" b="1" dirty="0">
                <a:solidFill>
                  <a:srgbClr val="1F2937"/>
                </a:solidFill>
                <a:latin typeface="Aptos"/>
              </a:rPr>
              <a:t> a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periodo</a:t>
            </a:r>
            <a:r>
              <a:rPr lang="es-MX" sz="1800" b="1" dirty="0">
                <a:solidFill>
                  <a:srgbClr val="1F2937"/>
                </a:solidFill>
                <a:latin typeface="Aptos"/>
              </a:rPr>
              <a:t>s futuros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Imagen 999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85800" y="411480"/>
            <a:ext cx="108813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dirty="0">
                <a:solidFill>
                  <a:schemeClr val="bg1"/>
                </a:solidFill>
                <a:latin typeface="Aptos"/>
              </a:rPr>
              <a:t>Antes de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empezar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: ¿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qué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es un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modelo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 de </a:t>
            </a:r>
            <a:r>
              <a:rPr sz="2800" b="1" dirty="0" err="1">
                <a:solidFill>
                  <a:schemeClr val="bg1"/>
                </a:solidFill>
                <a:latin typeface="Aptos"/>
              </a:rPr>
              <a:t>predicción</a:t>
            </a:r>
            <a:r>
              <a:rPr sz="2800" b="1" dirty="0">
                <a:solidFill>
                  <a:schemeClr val="bg1"/>
                </a:solidFill>
                <a:latin typeface="Aptos"/>
              </a:rPr>
              <a:t>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63646"/>
            <a:ext cx="10241280" cy="10618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 dirty="0">
                <a:solidFill>
                  <a:schemeClr val="bg1"/>
                </a:solidFill>
                <a:latin typeface="Aptos"/>
              </a:rPr>
              <a:t>Un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modelo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de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predicción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es,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en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palabras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muy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simples, una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regla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que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construimos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usando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lo que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ya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ocurrió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para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hacer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una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estimación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sobre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lo que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podría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ocurrir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 </a:t>
            </a:r>
            <a:r>
              <a:rPr sz="2300" b="1" dirty="0" err="1">
                <a:solidFill>
                  <a:schemeClr val="bg1"/>
                </a:solidFill>
                <a:latin typeface="Aptos"/>
              </a:rPr>
              <a:t>después</a:t>
            </a:r>
            <a:r>
              <a:rPr sz="2300" b="1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4612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54787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D5500"/>
                </a:solidFill>
                <a:latin typeface="Aptos"/>
              </a:rPr>
              <a:t>Mira el pasado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6908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6B7280"/>
                </a:solidFill>
                <a:latin typeface="Aptos"/>
              </a:rPr>
              <a:t>Usa datos que ya conocemos.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0520" y="4041648"/>
            <a:ext cx="548640" cy="0"/>
          </a:xfrm>
          <a:prstGeom prst="line">
            <a:avLst/>
          </a:prstGeom>
          <a:ln w="29209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54880" y="324612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3547872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D5500"/>
                </a:solidFill>
                <a:latin typeface="Aptos"/>
              </a:rPr>
              <a:t>Busca un patrón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977639"/>
            <a:ext cx="2606040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6B7280"/>
                </a:solidFill>
                <a:latin typeface="Aptos"/>
              </a:rPr>
              <a:t>Intenta encontrar una regla que describa lo que suele pasar.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01000" y="4041648"/>
            <a:ext cx="548640" cy="0"/>
          </a:xfrm>
          <a:prstGeom prst="line">
            <a:avLst/>
          </a:prstGeom>
          <a:ln w="29209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95360" y="3246120"/>
            <a:ext cx="2697480" cy="160020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354787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CD5500"/>
                </a:solidFill>
                <a:latin typeface="Aptos"/>
              </a:rPr>
              <a:t>Estima lo siguiente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402336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>
                <a:solidFill>
                  <a:srgbClr val="6B7280"/>
                </a:solidFill>
                <a:latin typeface="Aptos"/>
              </a:rPr>
              <a:t>Aplica esa regla al siguiente periodo.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8832" y="5532120"/>
            <a:ext cx="7983855" cy="276999"/>
          </a:xfrm>
          <a:prstGeom prst="rect">
            <a:avLst/>
          </a:prstGeom>
          <a:solidFill>
            <a:srgbClr val="FFFFFF">
              <a:alpha val="93000"/>
            </a:srgbClr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>
                <a:solidFill>
                  <a:srgbClr val="1F2937"/>
                </a:solidFill>
                <a:latin typeface="Aptos"/>
              </a:rPr>
              <a:t>No “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ve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”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el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futuro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.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Usa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información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del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pasado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para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hacer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una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estimación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1" dirty="0" err="1">
                <a:solidFill>
                  <a:srgbClr val="1F2937"/>
                </a:solidFill>
                <a:latin typeface="Aptos"/>
              </a:rPr>
              <a:t>razonada</a:t>
            </a:r>
            <a:r>
              <a:rPr sz="1800" b="1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Un modelo no es una bola de cristal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4983480" cy="324612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2029968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CD5500"/>
                </a:solidFill>
                <a:latin typeface="Aptos"/>
              </a:rPr>
              <a:t>Lo que SÍ hace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51760"/>
            <a:ext cx="425196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• Ordena la información.
• Busca relaciones que se repiten.
• Resume esas relaciones en una regla.
• Produce una estimación para el siguiente periodo.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4983480" cy="32461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029968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Lo que NO hace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651760"/>
            <a:ext cx="425196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• No garantiza el resultado.
• No sabe qué eventos inesperados ocurrirán.
• No convierte una elección futura en algo seguro.
• Puede equivocarse.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440680"/>
            <a:ext cx="100584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La pregunta correcta no es “¿el modelo sabe el futuro?”, sino “¿la regla que construimos tiene sentido y describe bien lo que ya ocurrió?”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Partimos de una pregunta, no de una fórmula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 dirty="0" err="1">
                <a:solidFill>
                  <a:srgbClr val="1F2937"/>
                </a:solidFill>
                <a:latin typeface="Aptos"/>
              </a:rPr>
              <a:t>Imagina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que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tenemos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varios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resultados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reales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de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elecciones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pasadas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y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queremos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construir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una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regla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que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describa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cómo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 se </a:t>
            </a:r>
            <a:r>
              <a:rPr sz="2300" b="1" dirty="0" err="1">
                <a:solidFill>
                  <a:srgbClr val="1F2937"/>
                </a:solidFill>
                <a:latin typeface="Aptos"/>
              </a:rPr>
              <a:t>comportan</a:t>
            </a:r>
            <a:r>
              <a:rPr sz="2300" b="1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63240"/>
            <a:ext cx="9875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D66000"/>
                </a:solidFill>
                <a:latin typeface="Aptos"/>
              </a:rPr>
              <a:t>El problema es que los datos reales nunca forman una línea perfecta.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Aptos"/>
              </a:rPr>
              <a:t>Hay elecciones mejores, peores, anomalías, candidatos distintos y contextos que cambian.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4572000"/>
            <a:ext cx="6583680" cy="8686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4828032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Por eso necesitamos separar tres tareas distintas.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Antes de hablar de estadística, necesitamos tres cosas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" y="2103120"/>
            <a:ext cx="502920" cy="502920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185415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93976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Una forma de 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679191"/>
            <a:ext cx="25146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Aptos"/>
              </a:rPr>
              <a:t>Una regla que diga cómo creemos que se comporta el fenómeno.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874519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17136" y="2103120"/>
            <a:ext cx="502920" cy="502920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17136" y="2185415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2093976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Una forma de encontrar sus mejores valores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7482" y="3079245"/>
            <a:ext cx="25146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dirty="0">
                <a:solidFill>
                  <a:srgbClr val="6B7280"/>
                </a:solidFill>
                <a:latin typeface="Aptos"/>
              </a:rPr>
              <a:t>No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elegirlos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 “a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ojo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”,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sino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buscar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 los que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mejor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reproduzcan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 lo </a:t>
            </a:r>
            <a:r>
              <a:rPr sz="1250" b="0" dirty="0" err="1">
                <a:solidFill>
                  <a:srgbClr val="6B7280"/>
                </a:solidFill>
                <a:latin typeface="Aptos"/>
              </a:rPr>
              <a:t>observado</a:t>
            </a:r>
            <a:r>
              <a:rPr sz="1250" b="0" dirty="0">
                <a:solidFill>
                  <a:srgbClr val="6B7280"/>
                </a:solidFill>
                <a:latin typeface="Apto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1874519"/>
            <a:ext cx="35661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01584" y="2103120"/>
            <a:ext cx="502920" cy="502920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01584" y="2185415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9096" y="2093976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Una forma de medir qué tan bien funciona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9096" y="2679191"/>
            <a:ext cx="25146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6B7280"/>
                </a:solidFill>
                <a:latin typeface="Aptos"/>
              </a:rPr>
              <a:t>Comprobar si la regla realmente explica una parte importante de lo ocurrido.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98348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1F2937"/>
                </a:solidFill>
                <a:latin typeface="Aptos"/>
              </a:rPr>
              <a:t>Son tres preguntas diferentes. Y conviene no mezclarlas.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En nuestro caso, esas tres cosas tienen nombre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2185190"/>
            <a:ext cx="310896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dirty="0">
                <a:solidFill>
                  <a:srgbClr val="D66000"/>
                </a:solidFill>
                <a:latin typeface="Aptos"/>
              </a:rPr>
              <a:t>REGRESIÓN
</a:t>
            </a:r>
            <a:r>
              <a:rPr lang="es-MX" sz="2200" b="1" dirty="0">
                <a:solidFill>
                  <a:srgbClr val="D66000"/>
                </a:solidFill>
                <a:latin typeface="Aptos"/>
              </a:rPr>
              <a:t>LINEAL SIMPLE</a:t>
            </a:r>
            <a:endParaRPr sz="2200" b="1" dirty="0">
              <a:solidFill>
                <a:srgbClr val="D6600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324612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ptos"/>
              </a:rPr>
              <a:t>¿Qué forma tiene nuestro modelo?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82880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44568" y="2148840"/>
            <a:ext cx="3108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dirty="0">
                <a:solidFill>
                  <a:srgbClr val="D66000"/>
                </a:solidFill>
                <a:latin typeface="Aptos"/>
              </a:rPr>
              <a:t>MÍNIMOS
CUADRADOS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7" y="324612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ptos"/>
              </a:rPr>
              <a:t>¿Qué valores hacen que se equivoque lo menos posible?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5" y="1828800"/>
            <a:ext cx="35661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37575" y="2148840"/>
            <a:ext cx="310896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D66000"/>
                </a:solidFill>
                <a:latin typeface="Aptos"/>
              </a:rPr>
              <a:t>R²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9015" y="3246120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Aptos"/>
              </a:rPr>
              <a:t>¿Qué tanto del comportamiento histórico consigue explicar?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Aptos"/>
              </a:rPr>
              <a:t>La regresión define la forma. Mínimos cuadrados calibra. R² evalúa.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1. Primero damos una forma al comportamiento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29844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ptos"/>
              </a:rPr>
              <a:t>La mayoría de los periodos siguen una trayectoria gradual; 2024 se separa claramente.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37360"/>
          <a:ext cx="67665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01000" y="1920240"/>
            <a:ext cx="3337560" cy="356616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221284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D66000"/>
                </a:solidFill>
                <a:latin typeface="Aptos"/>
              </a:rPr>
              <a:t>¿Qué vemos?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697480"/>
            <a:ext cx="269748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• En los primeros periodos, una tendencia sencilla es razonable.
• En el periodo 6 (2024), el dato real sube a 9.91.
• Una recta sola ya no cuenta toda la historia.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Por eso usamos una regresión modificada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No abandonamos la tendencia normal. Le añadimos una forma de representar el efecto extraordinario.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331720"/>
            <a:ext cx="4434840" cy="118872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251460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D66000"/>
                </a:solidFill>
                <a:latin typeface="Aptos"/>
              </a:rPr>
              <a:t>Años normales:   Y = mx +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331720"/>
            <a:ext cx="4434840" cy="118872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0" y="2514600"/>
            <a:ext cx="397763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>
                <a:solidFill>
                  <a:srgbClr val="D66000"/>
                </a:solidFill>
                <a:latin typeface="Aptos"/>
              </a:rPr>
              <a:t>2024:   Y = (mx + b) × 2.83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2926080"/>
            <a:ext cx="685800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4440" y="4069080"/>
            <a:ext cx="9692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>
                <a:solidFill>
                  <a:srgbClr val="6B7280"/>
                </a:solidFill>
                <a:latin typeface="Aptos"/>
              </a:rPr>
              <a:t>2.83 no aparece “por magia”. Representa que en 2024 el resultado observado fue aproximadamente 2.83 veces la base normal del modelo.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0749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Aptos"/>
              </a:rPr>
              <a:t>Y como </a:t>
            </a:r>
            <a:r>
              <a:rPr sz="1900" b="1">
                <a:solidFill>
                  <a:srgbClr val="D66000"/>
                </a:solidFill>
                <a:latin typeface="Aptos"/>
              </a:rPr>
              <a:t>2.83 = 1 + 1.83</a:t>
            </a:r>
            <a:r>
              <a:rPr sz="1600" b="0">
                <a:solidFill>
                  <a:srgbClr val="1F2937"/>
                </a:solidFill>
                <a:latin typeface="Aptos"/>
              </a:rPr>
              <a:t>, podemos separar la parte normal de la parte extraordinaria.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¿Qué significa 1 + 1.83r?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0" y="1554480"/>
            <a:ext cx="4480560" cy="114300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69080" y="1737360"/>
            <a:ext cx="40233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D66000"/>
                </a:solidFill>
                <a:latin typeface="Aptos"/>
              </a:rPr>
              <a:t>1 + 1.83r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63240"/>
            <a:ext cx="3566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31012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D6600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La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31596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ptos"/>
              </a:rPr>
              <a:t>Conserva el 100% del comportamiento normal.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063240"/>
            <a:ext cx="3566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331012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D66000"/>
                </a:solidFill>
                <a:latin typeface="Aptos"/>
              </a:rPr>
              <a:t>1.83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El efecto extraordinario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431596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ptos"/>
              </a:rPr>
              <a:t>Es el exceso observado en 2024 por encima de la base normal.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08975" y="3063240"/>
            <a:ext cx="35661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37575" y="3310128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>
                <a:solidFill>
                  <a:srgbClr val="D66000"/>
                </a:solidFill>
                <a:latin typeface="Aptos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5" y="388620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La retención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4315968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>
                <a:solidFill>
                  <a:srgbClr val="6B7280"/>
                </a:solidFill>
                <a:latin typeface="Aptos"/>
              </a:rPr>
              <a:t>Representa qué parte de ese efecto extraordinario suponemos que permanece.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715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r = 0  → no retenemos el efecto extra     |     r = 1  → retenemos todo el efecto extra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2. Después evitamos elegir los valores “a ojo”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D66000"/>
                </a:solidFill>
                <a:latin typeface="Aptos"/>
              </a:rPr>
              <a:t>Aquí entran los mínimos cuadrados.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480060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1F2937"/>
                </a:solidFill>
                <a:latin typeface="Aptos"/>
              </a:rPr>
              <a:t>La idea es sencilla: comparar lo que realmente ocurrió con lo que dice el modelo y buscar los valores que hagan esas diferencias lo más pequeñas posible en conjunto.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0" y="2011680"/>
            <a:ext cx="429768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7242048" y="1938528"/>
            <a:ext cx="146304" cy="146304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08392" y="1947672"/>
            <a:ext cx="128016" cy="128016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7315200" y="2011680"/>
            <a:ext cx="457200" cy="0"/>
          </a:xfrm>
          <a:prstGeom prst="line">
            <a:avLst/>
          </a:prstGeom>
          <a:ln w="25400">
            <a:solidFill>
              <a:srgbClr val="D66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0" y="2743200"/>
            <a:ext cx="429768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345168" y="2670048"/>
            <a:ext cx="146304" cy="146304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805672" y="2679192"/>
            <a:ext cx="128016" cy="128016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8869680" y="2743200"/>
            <a:ext cx="548640" cy="0"/>
          </a:xfrm>
          <a:prstGeom prst="line">
            <a:avLst/>
          </a:prstGeom>
          <a:ln w="25400">
            <a:solidFill>
              <a:srgbClr val="D66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00800" y="3657600"/>
            <a:ext cx="429768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90688" y="3584448"/>
            <a:ext cx="146304" cy="146304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48471" y="3593592"/>
            <a:ext cx="128016" cy="128016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7863840" y="3657600"/>
            <a:ext cx="548640" cy="0"/>
          </a:xfrm>
          <a:prstGeom prst="line">
            <a:avLst/>
          </a:prstGeom>
          <a:ln w="25400">
            <a:solidFill>
              <a:srgbClr val="D66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4572000"/>
            <a:ext cx="429768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985248" y="4498848"/>
            <a:ext cx="146304" cy="146304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28632" y="4507992"/>
            <a:ext cx="128016" cy="128016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9692640" y="4572000"/>
            <a:ext cx="365760" cy="0"/>
          </a:xfrm>
          <a:prstGeom prst="line">
            <a:avLst/>
          </a:prstGeom>
          <a:ln w="25400">
            <a:solidFill>
              <a:srgbClr val="D66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0" y="50749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D66000"/>
                </a:solidFill>
                <a:latin typeface="Aptos"/>
              </a:rPr>
              <a:t>●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507492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● modelo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77639"/>
            <a:ext cx="4800600" cy="146304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423367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D66000"/>
                </a:solidFill>
                <a:latin typeface="Aptos"/>
              </a:rPr>
              <a:t>Resultado del ajuste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626864"/>
            <a:ext cx="3383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ptos"/>
              </a:rPr>
              <a:t>SSE = 3.527548475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047488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tos"/>
              </a:rPr>
              <a:t>Es el error cuadrático que queda después de ajustar el modelo.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3. Finalmente preguntamos: ¿esa regla explica bien lo que ocurrió?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  <a:latin typeface="Aptos"/>
              </a:rPr>
              <a:t>Para saber si el error es grande o pequeño, lo comparamos con toda la variación que había en los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286000"/>
            <a:ext cx="3017520" cy="20574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6060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F2937"/>
                </a:solidFill>
                <a:latin typeface="Aptos"/>
              </a:rPr>
              <a:t>Variación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1546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Aptos"/>
              </a:rPr>
              <a:t>SST = 42.1891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286000"/>
            <a:ext cx="3017520" cy="205740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260604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D66000"/>
                </a:solidFill>
                <a:latin typeface="Aptos"/>
              </a:rPr>
              <a:t>Error que queda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1546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1F2937"/>
                </a:solidFill>
                <a:latin typeface="Aptos"/>
              </a:rPr>
              <a:t>SSE = 3.5275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011680"/>
            <a:ext cx="30175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60" y="228600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>
                <a:solidFill>
                  <a:srgbClr val="D66000"/>
                </a:solidFill>
                <a:latin typeface="Aptos"/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926080"/>
            <a:ext cx="25603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>
                <a:solidFill>
                  <a:srgbClr val="1F2937"/>
                </a:solidFill>
                <a:latin typeface="Aptos"/>
              </a:rPr>
              <a:t>91.64%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675887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del comportamiento observado es explicado por esta especificación del modelo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4892040"/>
            <a:ext cx="5349240" cy="82296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0168" y="5074920"/>
            <a:ext cx="4892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D66000"/>
                </a:solidFill>
                <a:latin typeface="Aptos"/>
              </a:rPr>
              <a:t>R² = 1 − SSE / SST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DC2626"/>
                </a:solidFill>
                <a:latin typeface="Aptos"/>
              </a:rPr>
              <a:t>Importante: 91.64% habla del ajuste al pasado; no significa 91.64% de probabilidad de acertar 2027.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Ahora sí: ¿cómo llegamos al Periodo 7 (2027)?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32461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039112" y="2011680"/>
            <a:ext cx="621792" cy="621792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39112" y="2185416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1F2937"/>
                </a:solidFill>
                <a:latin typeface="Aptos"/>
              </a:rPr>
              <a:t>Extendemos la tendencia 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84448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20" b="0">
                <a:solidFill>
                  <a:srgbClr val="6B7280"/>
                </a:solidFill>
                <a:latin typeface="Aptos"/>
              </a:rPr>
              <a:t>La base proyectada del modelo para el siguiente periodo es 3.7533.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23360" y="3154680"/>
            <a:ext cx="36575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33087" y="1783080"/>
            <a:ext cx="32461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440679" y="2011680"/>
            <a:ext cx="621792" cy="621792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79" y="2185416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852928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1F2937"/>
                </a:solidFill>
                <a:latin typeface="Aptos"/>
              </a:rPr>
              <a:t>No inventamos una regla nueva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7" y="3584448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20" b="0">
                <a:solidFill>
                  <a:srgbClr val="6B7280"/>
                </a:solidFill>
                <a:latin typeface="Aptos"/>
              </a:rPr>
              <a:t>Usamos la misma lógica que separó base normal y efecto extraordinario.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24927" y="3154680"/>
            <a:ext cx="36577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34656" y="1783080"/>
            <a:ext cx="32461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842248" y="2011680"/>
            <a:ext cx="621792" cy="621792"/>
          </a:xfrm>
          <a:prstGeom prst="ellipse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42248" y="2185416"/>
            <a:ext cx="62179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2852928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1F2937"/>
                </a:solidFill>
                <a:latin typeface="Aptos"/>
              </a:rPr>
              <a:t>Aplicamos la retención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3584448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20" b="0">
                <a:solidFill>
                  <a:srgbClr val="6B7280"/>
                </a:solidFill>
                <a:latin typeface="Aptos"/>
              </a:rPr>
              <a:t>El efecto de 2024 entra mediante el factor 1 + 1.83r.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4983480"/>
            <a:ext cx="6355080" cy="96012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54680" y="5166360"/>
            <a:ext cx="5897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700" b="1">
                <a:solidFill>
                  <a:srgbClr val="D66000"/>
                </a:solidFill>
                <a:latin typeface="Aptos"/>
              </a:rPr>
              <a:t>Ŷ₇ = 3.7533 × (1 + 1.83r)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¿Qué significa realmente el pronóstico de 2027?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5212080" cy="361188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011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D66000"/>
                </a:solidFill>
                <a:latin typeface="Aptos"/>
              </a:rPr>
              <a:t>Sí podemos decir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606040"/>
            <a:ext cx="443484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1F2937"/>
                </a:solidFill>
                <a:latin typeface="Aptos"/>
              </a:rPr>
              <a:t>• La forma del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modelo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reproduce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razonablemente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bien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el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pasado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.
• La base normal para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el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Periodo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7 surge de extender la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tendencia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.
• El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término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r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hace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explícito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cuánto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del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efecto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extraordinario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de 2024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suponemos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que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permanece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212080" cy="36118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937"/>
                </a:solidFill>
                <a:latin typeface="Aptos"/>
              </a:rPr>
              <a:t>No debemos decir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606040"/>
            <a:ext cx="4434840" cy="2240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ptos"/>
              </a:rPr>
              <a:t>• Que R² = 91.64% es una probabilidad de acertar.
• Que el futuro repetirá exactamente el pasado.
• Que el valor final es una certeza si r no ha sido fijado con un criterio independiente.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71500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La conclusión correcta es una proyección condicionada: “si esta relación se mantiene, el modelo produce este resultado”.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La idea completa, en una sola imagen 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1143000" cy="64008"/>
          </a:xfrm>
          <a:prstGeom prst="rect">
            <a:avLst/>
          </a:prstGeom>
          <a:solidFill>
            <a:srgbClr val="F2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45059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Aptos"/>
              </a:rPr>
              <a:t>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7121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Lo que ocurrió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87752" y="2852928"/>
            <a:ext cx="173736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88920" y="214884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79" y="245059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D66000"/>
                </a:solidFill>
                <a:latin typeface="Aptos"/>
              </a:rPr>
              <a:t>FORMA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287121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Regresión modificada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73752" y="2852928"/>
            <a:ext cx="173736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214884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245059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Aptos"/>
              </a:rPr>
              <a:t>CALIBRACIÓN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87121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Mínimos cuadrados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59752" y="2852928"/>
            <a:ext cx="173736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0920" y="214884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0" y="245059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1F2937"/>
                </a:solidFill>
                <a:latin typeface="Aptos"/>
              </a:rPr>
              <a:t>EVALUACIÓN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87121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R² = 91.64%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45752" y="2852928"/>
            <a:ext cx="173736" cy="0"/>
          </a:xfrm>
          <a:prstGeom prst="line">
            <a:avLst/>
          </a:prstGeom>
          <a:ln w="31750">
            <a:solidFill>
              <a:srgbClr val="F2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46920" y="2148840"/>
            <a:ext cx="2057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84080" y="245059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D66000"/>
                </a:solidFill>
                <a:latin typeface="Aptos"/>
              </a:rPr>
              <a:t>PRONÓSTICO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871216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>
                <a:solidFill>
                  <a:srgbClr val="6B7280"/>
                </a:solidFill>
                <a:latin typeface="Aptos"/>
              </a:rPr>
              <a:t>Periodo 7 · 2027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34840"/>
            <a:ext cx="10332720" cy="1143000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F2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34440" y="4681728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Aptos"/>
              </a:rPr>
              <a:t>No llegamos a 2027 porque una fórmula “adivine” el futuro. Llegamos porque construimos una regla, la contrastamos con el pasado y la extendemos al siguiente periodo dejando claros sus supuestos.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1908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6B72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1122</Words>
  <Application>Microsoft Office PowerPoint</Application>
  <PresentationFormat>Panorámica</PresentationFormat>
  <Paragraphs>127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HP</cp:lastModifiedBy>
  <cp:revision>10</cp:revision>
  <dcterms:created xsi:type="dcterms:W3CDTF">2013-01-27T09:14:16Z</dcterms:created>
  <dcterms:modified xsi:type="dcterms:W3CDTF">2026-09-27T20:54:30Z</dcterms:modified>
  <cp:category/>
</cp:coreProperties>
</file>