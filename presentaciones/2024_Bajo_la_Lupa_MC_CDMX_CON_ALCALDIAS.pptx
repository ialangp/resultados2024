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7A1F"/>
                </a:solidFill>
                <a:latin typeface="Inter"/>
              </a:rPr>
              <a:t>BAJO LA LUPA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Inter"/>
              </a:rPr>
              <a:t>2024 Bajo la Lupa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09928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6C2BE"/>
                </a:solidFill>
                <a:latin typeface="Inter"/>
              </a:rPr>
              <a:t>La fuerza real del partido, el desempeño territorial
y el aporte de sus candidaturas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761488"/>
            <a:ext cx="4251960" cy="621792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889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291693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47A1F"/>
                </a:solidFill>
                <a:latin typeface="Inter"/>
              </a:rPr>
              <a:t>Pregunta guía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127248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Inter"/>
              </a:rPr>
              <a:t>¿Cuánto del resultado de 2024 fue realmente nuestro?</a:t>
            </a:r>
          </a:p>
        </p:txBody>
      </p:sp>
      <p:sp>
        <p:nvSpPr>
          <p:cNvPr id="9" name="Oval 8"/>
          <p:cNvSpPr/>
          <p:nvPr/>
        </p:nvSpPr>
        <p:spPr>
          <a:xfrm>
            <a:off x="7790688" y="694944"/>
            <a:ext cx="2084831" cy="2084831"/>
          </a:xfrm>
          <a:prstGeom prst="ellipse">
            <a:avLst/>
          </a:prstGeom>
          <a:noFill/>
          <a:ln w="19050">
            <a:solidFill>
              <a:srgbClr val="4F4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73568" y="877824"/>
            <a:ext cx="1719072" cy="1719072"/>
          </a:xfrm>
          <a:prstGeom prst="ellipse">
            <a:avLst/>
          </a:prstGeom>
          <a:noFill/>
          <a:ln w="16510">
            <a:solidFill>
              <a:srgbClr val="F4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1490472"/>
            <a:ext cx="1152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FFFFF"/>
                </a:solidFill>
                <a:latin typeface="Inter"/>
              </a:rPr>
              <a:t>2024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91472" y="2386584"/>
            <a:ext cx="1499616" cy="1499616"/>
          </a:xfrm>
          <a:prstGeom prst="line">
            <a:avLst/>
          </a:prstGeom>
          <a:ln w="60960">
            <a:solidFill>
              <a:srgbClr val="F4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0352" y="6053328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8E8984"/>
                </a:solidFill>
                <a:latin typeface="Inter"/>
              </a:rPr>
              <a:t>Diputaciones Locales de Mayoría Relativa · CDMX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774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01 ·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2024 rompe un patrón de 12 años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La anomalía no es sólo “el mejor resultado”: 2024 rompe el rango, el récord y la escala observados en los cuatro procesos previos.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230368"/>
            <a:ext cx="6857999" cy="10972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5157216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D6A65"/>
                </a:solidFill>
                <a:latin typeface="Inter"/>
              </a:rPr>
              <a:t>0%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21024"/>
            <a:ext cx="6857999" cy="10972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3547872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D6A65"/>
                </a:solidFill>
                <a:latin typeface="Inter"/>
              </a:rPr>
              <a:t>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011680"/>
            <a:ext cx="6857999" cy="10972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1938528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D6A65"/>
                </a:solidFill>
                <a:latin typeface="Inter"/>
              </a:rPr>
              <a:t>10%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724022"/>
            <a:ext cx="5413248" cy="75961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3788030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D6A65"/>
                </a:solidFill>
                <a:latin typeface="Inter"/>
              </a:rPr>
              <a:t>CORREDOR HISTÓRICO 2012–2021 · 2.32%–4.68%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188720" y="3724022"/>
            <a:ext cx="1353312" cy="759610"/>
          </a:xfrm>
          <a:prstGeom prst="line">
            <a:avLst/>
          </a:prstGeom>
          <a:ln w="19050">
            <a:solidFill>
              <a:srgbClr val="8F8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42032" y="3724022"/>
            <a:ext cx="1353312" cy="698455"/>
          </a:xfrm>
          <a:prstGeom prst="line">
            <a:avLst/>
          </a:prstGeom>
          <a:ln w="19050">
            <a:solidFill>
              <a:srgbClr val="8F8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95344" y="4116701"/>
            <a:ext cx="1353312" cy="305776"/>
          </a:xfrm>
          <a:prstGeom prst="line">
            <a:avLst/>
          </a:prstGeom>
          <a:ln w="19050">
            <a:solidFill>
              <a:srgbClr val="8F8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248656" y="2156520"/>
            <a:ext cx="1627632" cy="1960181"/>
          </a:xfrm>
          <a:prstGeom prst="line">
            <a:avLst/>
          </a:prstGeom>
          <a:ln w="25400">
            <a:solidFill>
              <a:srgbClr val="F4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38428" y="4433340"/>
            <a:ext cx="100584" cy="100584"/>
          </a:xfrm>
          <a:prstGeom prst="ellipse">
            <a:avLst/>
          </a:prstGeom>
          <a:solidFill>
            <a:srgbClr val="2A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099584"/>
            <a:ext cx="58521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A2927"/>
                </a:solidFill>
                <a:latin typeface="Inter"/>
              </a:rPr>
              <a:t>2.32%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5404104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6A65"/>
                </a:solidFill>
                <a:latin typeface="Inter"/>
              </a:rPr>
              <a:t>2012</a:t>
            </a:r>
          </a:p>
        </p:txBody>
      </p:sp>
      <p:sp>
        <p:nvSpPr>
          <p:cNvPr id="22" name="Oval 21"/>
          <p:cNvSpPr/>
          <p:nvPr/>
        </p:nvSpPr>
        <p:spPr>
          <a:xfrm>
            <a:off x="2491739" y="3673730"/>
            <a:ext cx="100584" cy="100584"/>
          </a:xfrm>
          <a:prstGeom prst="ellipse">
            <a:avLst/>
          </a:prstGeom>
          <a:solidFill>
            <a:srgbClr val="2A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9424" y="3339974"/>
            <a:ext cx="58521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A2927"/>
                </a:solidFill>
                <a:latin typeface="Inter"/>
              </a:rPr>
              <a:t>4.68%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5404104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6A65"/>
                </a:solidFill>
                <a:latin typeface="Inter"/>
              </a:rPr>
              <a:t>2015</a:t>
            </a:r>
          </a:p>
        </p:txBody>
      </p:sp>
      <p:sp>
        <p:nvSpPr>
          <p:cNvPr id="25" name="Oval 24"/>
          <p:cNvSpPr/>
          <p:nvPr/>
        </p:nvSpPr>
        <p:spPr>
          <a:xfrm>
            <a:off x="3845052" y="4372185"/>
            <a:ext cx="100584" cy="100584"/>
          </a:xfrm>
          <a:prstGeom prst="ellipse">
            <a:avLst/>
          </a:prstGeom>
          <a:solidFill>
            <a:srgbClr val="2A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02736" y="4038429"/>
            <a:ext cx="58521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A2927"/>
                </a:solidFill>
                <a:latin typeface="Inter"/>
              </a:rPr>
              <a:t>2.51%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5404104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6A65"/>
                </a:solidFill>
                <a:latin typeface="Inter"/>
              </a:rPr>
              <a:t>2018</a:t>
            </a:r>
          </a:p>
        </p:txBody>
      </p:sp>
      <p:sp>
        <p:nvSpPr>
          <p:cNvPr id="28" name="Oval 27"/>
          <p:cNvSpPr/>
          <p:nvPr/>
        </p:nvSpPr>
        <p:spPr>
          <a:xfrm>
            <a:off x="5198364" y="4066409"/>
            <a:ext cx="100584" cy="100584"/>
          </a:xfrm>
          <a:prstGeom prst="ellipse">
            <a:avLst/>
          </a:prstGeom>
          <a:solidFill>
            <a:srgbClr val="2A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56048" y="3732653"/>
            <a:ext cx="58521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A2927"/>
                </a:solidFill>
                <a:latin typeface="Inter"/>
              </a:rPr>
              <a:t>3.46%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404104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6A65"/>
                </a:solidFill>
                <a:latin typeface="Inter"/>
              </a:rPr>
              <a:t>2021</a:t>
            </a:r>
          </a:p>
        </p:txBody>
      </p:sp>
      <p:sp>
        <p:nvSpPr>
          <p:cNvPr id="31" name="Oval 30"/>
          <p:cNvSpPr/>
          <p:nvPr/>
        </p:nvSpPr>
        <p:spPr>
          <a:xfrm>
            <a:off x="6825996" y="2106228"/>
            <a:ext cx="100584" cy="100584"/>
          </a:xfrm>
          <a:prstGeom prst="ellipse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79" y="1772472"/>
            <a:ext cx="58521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F47A1F"/>
                </a:solidFill>
                <a:latin typeface="Inter"/>
              </a:rPr>
              <a:t>9.55%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404104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47A1F"/>
                </a:solidFill>
                <a:latin typeface="Inter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19385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7A1F"/>
                </a:solidFill>
                <a:latin typeface="Inter"/>
              </a:rPr>
              <a:t>¿POR QUÉ ES ANÓMALO?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2267712"/>
            <a:ext cx="3246120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9912" y="2386584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47A1F"/>
                </a:solidFill>
                <a:latin typeface="Inter"/>
              </a:rPr>
              <a:t>RANGO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235915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927"/>
                </a:solidFill>
                <a:latin typeface="Inter"/>
              </a:rPr>
              <a:t>12 años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2651760"/>
            <a:ext cx="27889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D6A65"/>
                </a:solidFill>
                <a:latin typeface="Inter"/>
              </a:rPr>
              <a:t>Cuatro elecciones seguidas dentro de 2.32%–4.68%.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3182112"/>
            <a:ext cx="3246120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9912" y="3300984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47A1F"/>
                </a:solidFill>
                <a:latin typeface="Inter"/>
              </a:rPr>
              <a:t>RÉCORD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327355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927"/>
                </a:solidFill>
                <a:latin typeface="Inter"/>
              </a:rPr>
              <a:t>×2.04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3566160"/>
            <a:ext cx="27889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D6A65"/>
                </a:solidFill>
                <a:latin typeface="Inter"/>
              </a:rPr>
              <a:t>2024 más que duplica el máximo previo de 4.68%.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47888" y="4096512"/>
            <a:ext cx="3246120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39912" y="4215384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47A1F"/>
                </a:solidFill>
                <a:latin typeface="Inter"/>
              </a:rPr>
              <a:t>ESCALA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418795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927"/>
                </a:solidFill>
                <a:latin typeface="Inter"/>
              </a:rPr>
              <a:t>×3.20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9912" y="4480560"/>
            <a:ext cx="27889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D6A65"/>
                </a:solidFill>
                <a:latin typeface="Inter"/>
              </a:rPr>
              <a:t>2024 equivale a 3.20 veces la mediana 2012–2021 (2.99%).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" y="5806440"/>
            <a:ext cx="10716768" cy="34747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" y="5897880"/>
            <a:ext cx="1037844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Inter"/>
              </a:rPr>
              <a:t>La anomalía es descriptiva: 9.55% queda fuera de todo el rango observado antes de 2024. La siguiente pregunta es qué la explica.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Fuente: Histórico DMR CDMX MC. Porcentajes sobre Votación Total Emitida (VTE).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02 · LA ANOMALÍA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Un récord no explica su propia causa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Primero reconocemos la ruptura histórica; después debemos separar qué parte puede atribuirse a un fenómeno más amplio y qué parte al desempeño local.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965960"/>
            <a:ext cx="3182112" cy="315468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226771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47A1F"/>
                </a:solidFill>
                <a:latin typeface="Inter"/>
              </a:rPr>
              <a:t>LA PREGUNTA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688336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Inter"/>
              </a:rPr>
              <a:t>¿Qué cambió
en 2024?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931920"/>
            <a:ext cx="24871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6C2BE"/>
                </a:solidFill>
                <a:latin typeface="Inter"/>
              </a:rPr>
              <a:t>La anomalía identifica el problema; la comparación interestatal ayuda a identificar el componente externo.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Fuente: Histórico DMR CDMX MC. Comparación descriptiva; no se asigna probabilidad estadística con una serie tan corta.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7AF7FF8-B4B8-4B94-ADF9-AD953E62AD72}"/>
              </a:ext>
            </a:extLst>
          </p:cNvPr>
          <p:cNvGrpSpPr/>
          <p:nvPr/>
        </p:nvGrpSpPr>
        <p:grpSpPr>
          <a:xfrm>
            <a:off x="844549" y="1965960"/>
            <a:ext cx="6583320" cy="3401280"/>
            <a:chOff x="685800" y="2030040"/>
            <a:chExt cx="6583320" cy="3401280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18F8687F-4F7B-4C52-AC32-926B44E9DB6C}"/>
                </a:ext>
              </a:extLst>
            </p:cNvPr>
            <p:cNvSpPr/>
            <p:nvPr/>
          </p:nvSpPr>
          <p:spPr>
            <a:xfrm>
              <a:off x="685800" y="2030040"/>
              <a:ext cx="6583320" cy="340128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7560">
              <a:solidFill>
                <a:srgbClr val="E4E0D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853A8D30-92BE-4AFC-82F8-61FF3A35BA36}"/>
                </a:ext>
              </a:extLst>
            </p:cNvPr>
            <p:cNvGrpSpPr/>
            <p:nvPr/>
          </p:nvGrpSpPr>
          <p:grpSpPr>
            <a:xfrm>
              <a:off x="932760" y="2304360"/>
              <a:ext cx="5983920" cy="2834280"/>
              <a:chOff x="932760" y="2304360"/>
              <a:chExt cx="5983920" cy="2834280"/>
            </a:xfrm>
          </p:grpSpPr>
          <p:sp>
            <p:nvSpPr>
              <p:cNvPr id="27" name="Text 4">
                <a:extLst>
                  <a:ext uri="{FF2B5EF4-FFF2-40B4-BE49-F238E27FC236}">
                    <a16:creationId xmlns:a16="http://schemas.microsoft.com/office/drawing/2014/main" id="{CD4EA139-8238-404D-AC03-ABB8593FDE20}"/>
                  </a:ext>
                </a:extLst>
              </p:cNvPr>
              <p:cNvSpPr/>
              <p:nvPr/>
            </p:nvSpPr>
            <p:spPr>
              <a:xfrm>
                <a:off x="932760" y="2304360"/>
                <a:ext cx="2925720" cy="255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rm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1" u="none" strike="noStrike">
                    <a:solidFill>
                      <a:srgbClr val="6F6B65"/>
                    </a:solidFill>
                    <a:effectLst/>
                    <a:uFillTx/>
                    <a:latin typeface="Inter"/>
                    <a:ea typeface="Inter"/>
                  </a:rPr>
                  <a:t>Rango histórico 2012–2021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Shape 5">
                <a:extLst>
                  <a:ext uri="{FF2B5EF4-FFF2-40B4-BE49-F238E27FC236}">
                    <a16:creationId xmlns:a16="http://schemas.microsoft.com/office/drawing/2014/main" id="{2004B5AA-5DAF-4096-80BB-D43D693088F9}"/>
                  </a:ext>
                </a:extLst>
              </p:cNvPr>
              <p:cNvSpPr/>
              <p:nvPr/>
            </p:nvSpPr>
            <p:spPr>
              <a:xfrm>
                <a:off x="987480" y="3913560"/>
                <a:ext cx="5806440" cy="360"/>
              </a:xfrm>
              <a:prstGeom prst="line">
                <a:avLst/>
              </a:prstGeom>
              <a:ln w="25560">
                <a:solidFill>
                  <a:srgbClr val="B8B3AB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Shape 6">
                <a:extLst>
                  <a:ext uri="{FF2B5EF4-FFF2-40B4-BE49-F238E27FC236}">
                    <a16:creationId xmlns:a16="http://schemas.microsoft.com/office/drawing/2014/main" id="{3D3EEE6A-7FB3-40D5-AD75-BB8AF59C206D}"/>
                  </a:ext>
                </a:extLst>
              </p:cNvPr>
              <p:cNvSpPr/>
              <p:nvPr/>
            </p:nvSpPr>
            <p:spPr>
              <a:xfrm>
                <a:off x="2334600" y="3749040"/>
                <a:ext cx="1369800" cy="328680"/>
              </a:xfrm>
              <a:prstGeom prst="roundRect">
                <a:avLst>
                  <a:gd name="adj" fmla="val 16667"/>
                </a:avLst>
              </a:prstGeom>
              <a:solidFill>
                <a:srgbClr val="DFE9EF"/>
              </a:solidFill>
              <a:ln w="12600">
                <a:solidFill>
                  <a:srgbClr val="315B7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Shape 7">
                <a:extLst>
                  <a:ext uri="{FF2B5EF4-FFF2-40B4-BE49-F238E27FC236}">
                    <a16:creationId xmlns:a16="http://schemas.microsoft.com/office/drawing/2014/main" id="{F08985BD-CC10-49B1-BB50-D4680454E843}"/>
                  </a:ext>
                </a:extLst>
              </p:cNvPr>
              <p:cNvSpPr/>
              <p:nvPr/>
            </p:nvSpPr>
            <p:spPr>
              <a:xfrm>
                <a:off x="2279880" y="3858840"/>
                <a:ext cx="109440" cy="109440"/>
              </a:xfrm>
              <a:prstGeom prst="ellipse">
                <a:avLst/>
              </a:prstGeom>
              <a:solidFill>
                <a:srgbClr val="315B74"/>
              </a:solidFill>
              <a:ln w="12600">
                <a:solidFill>
                  <a:srgbClr val="315B7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760" rIns="90000" bIns="32760" anchor="t">
                <a:noAutofit/>
              </a:bodyPr>
              <a:lstStyle/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Shape 8">
                <a:extLst>
                  <a:ext uri="{FF2B5EF4-FFF2-40B4-BE49-F238E27FC236}">
                    <a16:creationId xmlns:a16="http://schemas.microsoft.com/office/drawing/2014/main" id="{61861160-680B-464B-A8F8-C0243572E191}"/>
                  </a:ext>
                </a:extLst>
              </p:cNvPr>
              <p:cNvSpPr/>
              <p:nvPr/>
            </p:nvSpPr>
            <p:spPr>
              <a:xfrm>
                <a:off x="2390040" y="3858840"/>
                <a:ext cx="109440" cy="109440"/>
              </a:xfrm>
              <a:prstGeom prst="ellipse">
                <a:avLst/>
              </a:prstGeom>
              <a:solidFill>
                <a:srgbClr val="315B74"/>
              </a:solidFill>
              <a:ln w="12600">
                <a:solidFill>
                  <a:srgbClr val="315B7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760" rIns="90000" bIns="32760" anchor="t">
                <a:noAutofit/>
              </a:bodyPr>
              <a:lstStyle/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Shape 9">
                <a:extLst>
                  <a:ext uri="{FF2B5EF4-FFF2-40B4-BE49-F238E27FC236}">
                    <a16:creationId xmlns:a16="http://schemas.microsoft.com/office/drawing/2014/main" id="{24310550-D444-463B-95A4-44C0643F29EE}"/>
                  </a:ext>
                </a:extLst>
              </p:cNvPr>
              <p:cNvSpPr/>
              <p:nvPr/>
            </p:nvSpPr>
            <p:spPr>
              <a:xfrm>
                <a:off x="2941560" y="3858840"/>
                <a:ext cx="109440" cy="109440"/>
              </a:xfrm>
              <a:prstGeom prst="ellipse">
                <a:avLst/>
              </a:prstGeom>
              <a:solidFill>
                <a:srgbClr val="315B74"/>
              </a:solidFill>
              <a:ln w="12600">
                <a:solidFill>
                  <a:srgbClr val="315B7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760" rIns="90000" bIns="32760" anchor="t">
                <a:noAutofit/>
              </a:bodyPr>
              <a:lstStyle/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Shape 10">
                <a:extLst>
                  <a:ext uri="{FF2B5EF4-FFF2-40B4-BE49-F238E27FC236}">
                    <a16:creationId xmlns:a16="http://schemas.microsoft.com/office/drawing/2014/main" id="{63E9EDA5-57DC-4F76-B6B7-8041D4F095CF}"/>
                  </a:ext>
                </a:extLst>
              </p:cNvPr>
              <p:cNvSpPr/>
              <p:nvPr/>
            </p:nvSpPr>
            <p:spPr>
              <a:xfrm>
                <a:off x="3650040" y="3858840"/>
                <a:ext cx="109440" cy="109440"/>
              </a:xfrm>
              <a:prstGeom prst="ellipse">
                <a:avLst/>
              </a:prstGeom>
              <a:solidFill>
                <a:srgbClr val="315B74"/>
              </a:solidFill>
              <a:ln w="12600">
                <a:solidFill>
                  <a:srgbClr val="315B7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760" rIns="90000" bIns="32760" anchor="t">
                <a:noAutofit/>
              </a:bodyPr>
              <a:lstStyle/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Shape 11">
                <a:extLst>
                  <a:ext uri="{FF2B5EF4-FFF2-40B4-BE49-F238E27FC236}">
                    <a16:creationId xmlns:a16="http://schemas.microsoft.com/office/drawing/2014/main" id="{2FAA0C67-B638-4125-9B04-9EAED0912AE9}"/>
                  </a:ext>
                </a:extLst>
              </p:cNvPr>
              <p:cNvSpPr/>
              <p:nvPr/>
            </p:nvSpPr>
            <p:spPr>
              <a:xfrm>
                <a:off x="6423120" y="3803760"/>
                <a:ext cx="219240" cy="219240"/>
              </a:xfrm>
              <a:prstGeom prst="ellipse">
                <a:avLst/>
              </a:prstGeom>
              <a:solidFill>
                <a:srgbClr val="F47A1F"/>
              </a:solidFill>
              <a:ln w="12600">
                <a:solidFill>
                  <a:srgbClr val="F47A1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Text 12">
                <a:extLst>
                  <a:ext uri="{FF2B5EF4-FFF2-40B4-BE49-F238E27FC236}">
                    <a16:creationId xmlns:a16="http://schemas.microsoft.com/office/drawing/2014/main" id="{79D30F53-01AF-4722-8F5A-5A5BC0D6B489}"/>
                  </a:ext>
                </a:extLst>
              </p:cNvPr>
              <p:cNvSpPr/>
              <p:nvPr/>
            </p:nvSpPr>
            <p:spPr>
              <a:xfrm>
                <a:off x="2014560" y="4224600"/>
                <a:ext cx="6397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u="none" strike="noStrike">
                    <a:solidFill>
                      <a:srgbClr val="315B74"/>
                    </a:solidFill>
                    <a:effectLst/>
                    <a:uFillTx/>
                    <a:latin typeface="Inter"/>
                    <a:ea typeface="Inter"/>
                  </a:rPr>
                  <a:t>2.32%</a:t>
                </a:r>
                <a:endParaRPr lang="en-US" sz="9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Text 13">
                <a:extLst>
                  <a:ext uri="{FF2B5EF4-FFF2-40B4-BE49-F238E27FC236}">
                    <a16:creationId xmlns:a16="http://schemas.microsoft.com/office/drawing/2014/main" id="{63F7C36C-223A-421B-81CE-C5202B914F50}"/>
                  </a:ext>
                </a:extLst>
              </p:cNvPr>
              <p:cNvSpPr/>
              <p:nvPr/>
            </p:nvSpPr>
            <p:spPr>
              <a:xfrm>
                <a:off x="3385080" y="4224600"/>
                <a:ext cx="6397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u="none" strike="noStrike">
                    <a:solidFill>
                      <a:srgbClr val="315B74"/>
                    </a:solidFill>
                    <a:effectLst/>
                    <a:uFillTx/>
                    <a:latin typeface="Inter"/>
                    <a:ea typeface="Inter"/>
                  </a:rPr>
                  <a:t>4.68%</a:t>
                </a:r>
                <a:endParaRPr lang="en-US" sz="9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Text 14">
                <a:extLst>
                  <a:ext uri="{FF2B5EF4-FFF2-40B4-BE49-F238E27FC236}">
                    <a16:creationId xmlns:a16="http://schemas.microsoft.com/office/drawing/2014/main" id="{003A8288-968E-4A81-AC0A-77F2A6CA0838}"/>
                  </a:ext>
                </a:extLst>
              </p:cNvPr>
              <p:cNvSpPr/>
              <p:nvPr/>
            </p:nvSpPr>
            <p:spPr>
              <a:xfrm>
                <a:off x="6148800" y="3264480"/>
                <a:ext cx="767880" cy="27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320" b="1" u="none" strike="noStrike">
                    <a:solidFill>
                      <a:srgbClr val="F47A1F"/>
                    </a:solidFill>
                    <a:effectLst/>
                    <a:uFillTx/>
                    <a:latin typeface="Inter"/>
                    <a:ea typeface="Inter"/>
                  </a:rPr>
                  <a:t>9.55%</a:t>
                </a:r>
                <a:endParaRPr lang="en-US" sz="132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Text 15">
                <a:extLst>
                  <a:ext uri="{FF2B5EF4-FFF2-40B4-BE49-F238E27FC236}">
                    <a16:creationId xmlns:a16="http://schemas.microsoft.com/office/drawing/2014/main" id="{3D3D9A2C-6D89-4BA9-A9EA-8FA8D6B90016}"/>
                  </a:ext>
                </a:extLst>
              </p:cNvPr>
              <p:cNvSpPr/>
              <p:nvPr/>
            </p:nvSpPr>
            <p:spPr>
              <a:xfrm>
                <a:off x="6148800" y="3557160"/>
                <a:ext cx="76788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50" b="1" u="none" strike="noStrike">
                    <a:solidFill>
                      <a:srgbClr val="F47A1F"/>
                    </a:solidFill>
                    <a:effectLst/>
                    <a:uFillTx/>
                    <a:latin typeface="Inter"/>
                    <a:ea typeface="Inter"/>
                  </a:rPr>
                  <a:t>2024</a:t>
                </a:r>
                <a:endParaRPr lang="en-US" sz="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Text 16">
                <a:extLst>
                  <a:ext uri="{FF2B5EF4-FFF2-40B4-BE49-F238E27FC236}">
                    <a16:creationId xmlns:a16="http://schemas.microsoft.com/office/drawing/2014/main" id="{2CA81601-10F9-43D2-AE07-A506C969D56F}"/>
                  </a:ext>
                </a:extLst>
              </p:cNvPr>
              <p:cNvSpPr/>
              <p:nvPr/>
            </p:nvSpPr>
            <p:spPr>
              <a:xfrm>
                <a:off x="932760" y="4745880"/>
                <a:ext cx="5897520" cy="39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rm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310" b="1" u="none" strike="noStrike">
                    <a:solidFill>
                      <a:srgbClr val="171717"/>
                    </a:solidFill>
                    <a:effectLst/>
                    <a:uFillTx/>
                    <a:latin typeface="Inter"/>
                    <a:ea typeface="Inter"/>
                  </a:rPr>
                  <a:t>Durante cuatro procesos, MC se movió entre 2.32% y 4.68%.</a:t>
                </a:r>
                <a:endParaRPr lang="en-US" sz="131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F47A1F"/>
                </a:solidFill>
                <a:latin typeface="Inter"/>
              </a:rPr>
              <a:t>03 · MOMENTO DE </a:t>
            </a:r>
            <a:r>
              <a:rPr lang="es-MX" sz="950" b="1" dirty="0">
                <a:solidFill>
                  <a:srgbClr val="F47A1F"/>
                </a:solidFill>
                <a:latin typeface="Inter"/>
              </a:rPr>
              <a:t>ANALISIS</a:t>
            </a:r>
            <a:endParaRPr sz="950" b="1" i="0" dirty="0">
              <a:solidFill>
                <a:srgbClr val="F47A1F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0401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80" b="1" i="0">
                <a:solidFill>
                  <a:srgbClr val="2A2927"/>
                </a:solidFill>
                <a:latin typeface="Inter"/>
              </a:rPr>
              <a:t>¿El gran resultado de 2024 se explica por un desempeño extraordinario
realizado exclusivamente en la Ciudad de México?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697480"/>
            <a:ext cx="64465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7328" y="292608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6D6A65"/>
                </a:solidFill>
                <a:latin typeface="Inter"/>
              </a:rPr>
              <a:t>CDMX · Diputaciones Locales 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3328416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A2927"/>
                </a:solidFill>
                <a:latin typeface="Inter"/>
              </a:rPr>
              <a:t>3.89%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3703320"/>
            <a:ext cx="6949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291840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7A1F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3328416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7A1F"/>
                </a:solidFill>
                <a:latin typeface="Inter"/>
              </a:rPr>
              <a:t>9.91%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3703320"/>
            <a:ext cx="6949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94576" y="3182112"/>
            <a:ext cx="1325880" cy="612648"/>
          </a:xfrm>
          <a:prstGeom prst="roundRect">
            <a:avLst>
              <a:gd name="adj" fmla="val 8000"/>
            </a:avLst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4576" y="33101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7A1F"/>
                </a:solidFill>
                <a:latin typeface="Inter"/>
              </a:rPr>
              <a:t>×2.55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Fuente: MC Estados 2021–2024. Porcentajes sobre Votación Válida Emitida (VVE).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04 · LA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CDMX no creció sola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Los porcentajes muestran el punto de partida y llegada; el multiplicador sigue siendo la señal visual principal.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Hidalgo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892807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87168" y="1892807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897379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2.10%  →  8.68%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60803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×4.13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85415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Tlaxcala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7168" y="2203703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87168" y="2203703"/>
            <a:ext cx="3212134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2208275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3.53%  →  11.00%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71699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×3.12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496312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Baja California Sur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7168" y="2514600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487168" y="2514600"/>
            <a:ext cx="3150362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6040" y="2519172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3.04%  →  9.31%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82596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×3.06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807208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Querétaro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87168" y="2825496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487168" y="2825496"/>
            <a:ext cx="3129772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40" y="2830068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1.95%  →  5.93%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793491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×3.04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118104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Guerrero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87168" y="3136392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487168" y="3136392"/>
            <a:ext cx="2676778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06040" y="3140964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2.82%  →  7.33%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104388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×2.60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42900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47A1F"/>
                </a:solidFill>
                <a:latin typeface="Inter"/>
              </a:rPr>
              <a:t>CDMX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87168" y="3447288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487168" y="3447288"/>
            <a:ext cx="2625302" cy="164592"/>
          </a:xfrm>
          <a:prstGeom prst="roundRect">
            <a:avLst>
              <a:gd name="adj" fmla="val 8000"/>
            </a:avLst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06040" y="3451860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3.89%  →  9.91%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415284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47A1F"/>
                </a:solidFill>
                <a:latin typeface="Inter"/>
              </a:rPr>
              <a:t>×2.55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739896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Zacatecas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87168" y="3758183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487168" y="3758183"/>
            <a:ext cx="2501758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06040" y="3762756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2.79%  →  6.78%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726180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×2.43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050791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Chiapas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87168" y="4069079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487168" y="4069079"/>
            <a:ext cx="2131127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06040" y="4073652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2.41%  →  4.99%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037076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×2.07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361688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Tabasco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87168" y="4379975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487168" y="4379975"/>
            <a:ext cx="2028174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06040" y="4384548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3.80%  →  7.48%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34797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×1.97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4672583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Baja California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87168" y="4690871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487168" y="4690871"/>
            <a:ext cx="1986993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606040" y="4695444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4.43%  →  8.54%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658868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×1.93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98348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Sinaloa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87168" y="5001768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487168" y="5001768"/>
            <a:ext cx="1688429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06040" y="5006340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4.16%  →  6.83%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4969764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×1.64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5294376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Aguascalientes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487168" y="5312664"/>
            <a:ext cx="4251960" cy="164592"/>
          </a:xfrm>
          <a:prstGeom prst="roundRect">
            <a:avLst>
              <a:gd name="adj" fmla="val 8000"/>
            </a:avLst>
          </a:prstGeom>
          <a:solidFill>
            <a:srgbClr val="E6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2487168" y="5312664"/>
            <a:ext cx="1606067" cy="164592"/>
          </a:xfrm>
          <a:prstGeom prst="roundRect">
            <a:avLst>
              <a:gd name="adj" fmla="val 8000"/>
            </a:avLst>
          </a:prstGeom>
          <a:solidFill>
            <a:srgbClr val="9C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06040" y="5317236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Inter"/>
              </a:rPr>
              <a:t>4.35%  →  6.77%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280660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2A2927"/>
                </a:solidFill>
                <a:latin typeface="Inter"/>
              </a:rPr>
              <a:t>×1.56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75320" y="1956816"/>
            <a:ext cx="3246120" cy="363931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40496" y="222199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7A1F"/>
                </a:solidFill>
                <a:latin typeface="Inter"/>
              </a:rPr>
              <a:t>LECTURA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0496" y="263347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CDMX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2898648"/>
            <a:ext cx="15087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Inter"/>
              </a:rPr>
              <a:t>×2.55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40496" y="338328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C2BE"/>
                </a:solidFill>
                <a:latin typeface="Inter"/>
              </a:rPr>
              <a:t>3.89%  →  9.91%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0496" y="3840480"/>
            <a:ext cx="2706624" cy="10972"/>
          </a:xfrm>
          <a:prstGeom prst="rect">
            <a:avLst/>
          </a:prstGeom>
          <a:solidFill>
            <a:srgbClr val="5B5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40496" y="409651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AA6A1"/>
                </a:solidFill>
                <a:latin typeface="Inter"/>
              </a:rPr>
              <a:t>Mediana del resto comparable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0496" y="4352544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≈ ×2.43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84632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6C2BE"/>
                </a:solidFill>
                <a:latin typeface="Inter"/>
              </a:rPr>
              <a:t>El salto de CDMX es consistente con un fenómeno más amplio de crecimiento de MC.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Fuente: muestra de entidades con Diputaciones Locales MR 2021–2024. VVE. La muestra no pretende ser un censo nacional.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05 · DOBLE MÉTRICA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Dos métricas, dos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IDR evalúa el desempeño relativo del territorio. FRC evalúa el aporte de la candidatura a la marca después de retirar el ruido de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3584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22199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23113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203704"/>
            <a:ext cx="39776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47A1F"/>
                </a:solidFill>
                <a:latin typeface="Inter"/>
              </a:rPr>
              <a:t>IDR · DESEMPEÑO RELATIVO DEL TERRITORIO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24912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2927"/>
                </a:solidFill>
                <a:latin typeface="Inter"/>
              </a:rPr>
              <a:t>¿Quién avanzó más o menos que el ritmo general de MC en la Ciudad?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5643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D6A65"/>
                </a:solidFill>
                <a:latin typeface="Inter"/>
              </a:rPr>
              <a:t>Benchmark CDMX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85032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A2927"/>
                </a:solidFill>
                <a:latin typeface="Inter"/>
              </a:rPr>
              <a:t>3.89%  →  9.91%   ×2.548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325112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2A2927"/>
                </a:solidFill>
                <a:latin typeface="Inter"/>
              </a:rPr>
              <a:t>IDR = (multiplicador del distrito ÷ 2.548) − 1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91456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D6A65"/>
                </a:solidFill>
                <a:latin typeface="Inter"/>
              </a:rPr>
              <a:t>0% = sigue el ritmo de la Ciudad   ·   + = avanza más   ·   − = avanza menos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1965960"/>
            <a:ext cx="5376672" cy="3584448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28232" y="2212848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2221992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203704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47A1F"/>
                </a:solidFill>
                <a:latin typeface="Inter"/>
              </a:rPr>
              <a:t>FRC · FUERZA RELATIVA CANDIDATURA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724912"/>
            <a:ext cx="44988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FFFFF"/>
                </a:solidFill>
                <a:latin typeface="Inter"/>
              </a:rPr>
              <a:t>¿Qué aporte a la marca conserva una candidatura una vez neutralizado el salto común de 2024?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511296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AAA6A1"/>
                </a:solidFill>
                <a:latin typeface="Inter"/>
              </a:rPr>
              <a:t>Factor escalar de los 33 distritos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730752"/>
            <a:ext cx="45902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Inter"/>
              </a:rPr>
              <a:t>3.52%  →  9.97%   FE = ×2.835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88536"/>
            <a:ext cx="4526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Inter"/>
              </a:rPr>
              <a:t>Resultado ajustado = %2024 ÷ 2.835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626864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FRC = Resultado ajustado − Mediana ajustada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5001768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C6C2BE"/>
                </a:solidFill>
                <a:latin typeface="Inter"/>
              </a:rPr>
              <a:t>Mediana ajustada = 3.52%   ·   + = aporta arriba   ·   − = aporta debajo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5824728"/>
            <a:ext cx="10469880" cy="347472"/>
          </a:xfrm>
          <a:prstGeom prst="roundRect">
            <a:avLst>
              <a:gd name="adj" fmla="val 8000"/>
            </a:avLst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1" y="591616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2A2927"/>
                </a:solidFill>
                <a:latin typeface="Inter"/>
              </a:rPr>
              <a:t>IDR = territorio   |   FRC = candidatura. El factor escalar elimina el ruido extraordinario antes de calcular la FRC.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IDR usa VVE CDMX. FE = mediana distrital 2024 / mediana distrital 2021. FRC = Resultado ajustado 2024 − Mediana del resultado ajustado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06 · FACTOR ESCALAR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Quitar el ruido antes de comparar candidaturas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El factor escalar reexpresa 2024 en una escala comparable con 2021; la FRC convierte ese nivel ajustado en una medida relativa.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965960"/>
            <a:ext cx="26060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57984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7A1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32304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D6A65"/>
                </a:solidFill>
                <a:latin typeface="Inter"/>
              </a:rPr>
              <a:t>MEDIANA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8833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2927"/>
                </a:solidFill>
                <a:latin typeface="Inter"/>
              </a:rPr>
              <a:t>3.52%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6324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D6A65"/>
                </a:solidFill>
                <a:latin typeface="Inter"/>
              </a:rPr>
              <a:t>Punto de referencia antes del salto.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3048" y="1965960"/>
            <a:ext cx="26060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95928" y="2157984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7A1F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2432304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D6A65"/>
                </a:solidFill>
                <a:latin typeface="Inter"/>
              </a:rPr>
              <a:t>MEDIANA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268833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2927"/>
                </a:solidFill>
                <a:latin typeface="Inter"/>
              </a:rPr>
              <a:t>9.97%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306324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D6A65"/>
                </a:solidFill>
                <a:latin typeface="Inter"/>
              </a:rPr>
              <a:t>Resultado típico después del salto.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7144" y="1965960"/>
            <a:ext cx="26060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0024" y="2157984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7A1F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2432304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D6A65"/>
                </a:solidFill>
                <a:latin typeface="Inter"/>
              </a:rPr>
              <a:t>FACTOR ESCALAR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268833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2927"/>
                </a:solidFill>
                <a:latin typeface="Inter"/>
              </a:rPr>
              <a:t>×2.835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306324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D6A65"/>
                </a:solidFill>
                <a:latin typeface="Inter"/>
              </a:rPr>
              <a:t>9.97 ÷ 3.52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965960"/>
            <a:ext cx="1572768" cy="135331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22408" y="2267712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47A1F"/>
                </a:solidFill>
                <a:latin typeface="Inter"/>
              </a:rPr>
              <a:t>NORMALIZACIÓN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25786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%2024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285292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÷ 2.835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254203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7A1F"/>
                </a:solidFill>
                <a:latin typeface="Inter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54203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7A1F"/>
                </a:solidFill>
                <a:latin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54203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7A1F"/>
                </a:solidFill>
                <a:latin typeface="Inter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611880"/>
            <a:ext cx="80467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A2927"/>
                </a:solidFill>
                <a:latin typeface="Inter"/>
              </a:rPr>
              <a:t>Ejemplos: el mismo 2024 visto después de neutralizar el salto común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3931920"/>
            <a:ext cx="10744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0965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6A65"/>
                </a:solidFill>
                <a:latin typeface="Inter"/>
              </a:rPr>
              <a:t>Distrito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096512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6A65"/>
                </a:solidFill>
                <a:latin typeface="Inter"/>
              </a:rPr>
              <a:t>Resultado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9651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6A65"/>
                </a:solidFill>
                <a:latin typeface="Inter"/>
              </a:rPr>
              <a:t>Resultado ajustado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409651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6A65"/>
                </a:solidFill>
                <a:latin typeface="Inter"/>
              </a:rPr>
              <a:t>FRC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096512"/>
            <a:ext cx="4480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6A65"/>
                </a:solidFill>
                <a:latin typeface="Inter"/>
              </a:rPr>
              <a:t>Lectura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361688"/>
            <a:ext cx="10222992" cy="9144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449884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D8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49884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12.75%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4988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4.50%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44988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47D62"/>
                </a:solidFill>
                <a:latin typeface="Inter"/>
              </a:rPr>
              <a:t>+0.98%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4498848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D6A65"/>
                </a:solidFill>
                <a:latin typeface="Inter"/>
              </a:rPr>
              <a:t>Aporta 0.98% por arriba de la mediana ajustada.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4754879"/>
            <a:ext cx="1033272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78231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D11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78231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12.00%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78231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4.23%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478231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47D62"/>
                </a:solidFill>
                <a:latin typeface="Inter"/>
              </a:rPr>
              <a:t>+0.71%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782312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D6A65"/>
                </a:solidFill>
                <a:latin typeface="Inter"/>
              </a:rPr>
              <a:t>FRC positiva aunque su IDR sea menor.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506577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D17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06577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7.97%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506577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2.81%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06577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B87924"/>
                </a:solidFill>
                <a:latin typeface="Inter"/>
              </a:rPr>
              <a:t>−0.70%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5065776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D6A65"/>
                </a:solidFill>
                <a:latin typeface="Inter"/>
              </a:rPr>
              <a:t>Avanza territorialmente, pero su FRC queda debajo.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808" y="5632704"/>
            <a:ext cx="10744200" cy="41148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1832" y="5751576"/>
            <a:ext cx="10241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Inter"/>
              </a:rPr>
              <a:t>FRC = Resultado ajustado 2024 − Mediana del resultado ajustado 2024 (3.52%)   |   0.00% = mediana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FE = 9.968956 / 3.516500 = 2.834909. FRC es una resta directa: resultado ajustado menos mediana ajustada; se muestra con sufijo 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07 · POR QUÉ DOS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El IDR solo puede contar una historia incompleta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La lectura conjunta evita premiar automáticamente una base baja o castigar una base alta: territorio y candidatura responden preguntas distintas.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11680"/>
            <a:ext cx="1077163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2011680"/>
            <a:ext cx="137160" cy="987552"/>
          </a:xfrm>
          <a:prstGeom prst="rect">
            <a:avLst/>
          </a:prstGeom>
          <a:solidFill>
            <a:srgbClr val="147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185416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7D62"/>
                </a:solidFill>
                <a:latin typeface="Inter"/>
              </a:rPr>
              <a:t>D8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57984"/>
            <a:ext cx="31546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A2927"/>
                </a:solidFill>
                <a:latin typeface="Inter"/>
              </a:rPr>
              <a:t>Roberto Isaac García Mejía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1305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IDR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50008"/>
            <a:ext cx="9144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 dirty="0">
                <a:solidFill>
                  <a:srgbClr val="147D62"/>
                </a:solidFill>
                <a:latin typeface="Inter"/>
              </a:rPr>
              <a:t>+6</a:t>
            </a:r>
            <a:r>
              <a:rPr lang="es-MX" sz="1750" b="1" i="0" dirty="0">
                <a:solidFill>
                  <a:srgbClr val="147D62"/>
                </a:solidFill>
                <a:latin typeface="Inter"/>
              </a:rPr>
              <a:t>3.4</a:t>
            </a:r>
            <a:r>
              <a:rPr sz="175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3055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AJUSTADO 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50008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A2927"/>
                </a:solidFill>
                <a:latin typeface="Inter"/>
              </a:rPr>
              <a:t>4.50%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13055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FRC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368296"/>
            <a:ext cx="9601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7D62"/>
                </a:solidFill>
                <a:latin typeface="Inter"/>
              </a:rPr>
              <a:t>+0.98%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67128"/>
            <a:ext cx="274320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6A65"/>
                </a:solidFill>
                <a:latin typeface="Inter"/>
              </a:rPr>
              <a:t>El territorio avanza mucho y la candidatura aporta claramente por arriba de la mediana.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36976"/>
            <a:ext cx="1077163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236976"/>
            <a:ext cx="137160" cy="987552"/>
          </a:xfrm>
          <a:prstGeom prst="rect">
            <a:avLst/>
          </a:prstGeom>
          <a:solidFill>
            <a:srgbClr val="B87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41071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7924"/>
                </a:solidFill>
                <a:latin typeface="Inter"/>
              </a:rPr>
              <a:t>D11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383280"/>
            <a:ext cx="31546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A2927"/>
                </a:solidFill>
                <a:latin typeface="Inter"/>
              </a:rPr>
              <a:t>Alejandra Ortiz Pitalua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35584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IDR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575304"/>
            <a:ext cx="9144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 dirty="0">
                <a:solidFill>
                  <a:srgbClr val="C00000"/>
                </a:solidFill>
                <a:latin typeface="Inter"/>
              </a:rPr>
              <a:t>−6.</a:t>
            </a:r>
            <a:r>
              <a:rPr lang="es-MX" sz="1750" b="1" i="0" dirty="0">
                <a:solidFill>
                  <a:srgbClr val="C00000"/>
                </a:solidFill>
                <a:latin typeface="Inter"/>
              </a:rPr>
              <a:t>5</a:t>
            </a:r>
            <a:r>
              <a:rPr sz="175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3558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AJUSTADO 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575304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A2927"/>
                </a:solidFill>
                <a:latin typeface="Inter"/>
              </a:rPr>
              <a:t>4.23%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3558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FRC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593592"/>
            <a:ext cx="9601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7D62"/>
                </a:solidFill>
                <a:latin typeface="Inter"/>
              </a:rPr>
              <a:t>+0.71%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392424"/>
            <a:ext cx="274320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6D6A65"/>
                </a:solidFill>
                <a:latin typeface="Inter"/>
              </a:rPr>
              <a:t>El </a:t>
            </a:r>
            <a:r>
              <a:rPr sz="900" b="0" i="0" dirty="0" err="1">
                <a:solidFill>
                  <a:srgbClr val="6D6A65"/>
                </a:solidFill>
                <a:latin typeface="Inter"/>
              </a:rPr>
              <a:t>territorio</a:t>
            </a:r>
            <a:r>
              <a:rPr sz="900" b="0" i="0" dirty="0">
                <a:solidFill>
                  <a:srgbClr val="6D6A65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6D6A65"/>
                </a:solidFill>
                <a:latin typeface="Inter"/>
              </a:rPr>
              <a:t>crece</a:t>
            </a:r>
            <a:r>
              <a:rPr sz="900" b="0" i="0" dirty="0">
                <a:solidFill>
                  <a:srgbClr val="6D6A65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6D6A65"/>
                </a:solidFill>
                <a:latin typeface="Inter"/>
              </a:rPr>
              <a:t>menos</a:t>
            </a:r>
            <a:r>
              <a:rPr sz="900" b="0" i="0" dirty="0">
                <a:solidFill>
                  <a:srgbClr val="6D6A65"/>
                </a:solidFill>
                <a:latin typeface="Inter"/>
              </a:rPr>
              <a:t> que CDMX, </a:t>
            </a:r>
            <a:r>
              <a:rPr sz="900" b="0" i="0" dirty="0" err="1">
                <a:solidFill>
                  <a:srgbClr val="6D6A65"/>
                </a:solidFill>
                <a:latin typeface="Inter"/>
              </a:rPr>
              <a:t>pero</a:t>
            </a:r>
            <a:r>
              <a:rPr sz="900" b="0" i="0" dirty="0">
                <a:solidFill>
                  <a:srgbClr val="6D6A65"/>
                </a:solidFill>
                <a:latin typeface="Inter"/>
              </a:rPr>
              <a:t> la </a:t>
            </a:r>
            <a:r>
              <a:rPr sz="900" b="0" i="0" dirty="0" err="1">
                <a:solidFill>
                  <a:srgbClr val="6D6A65"/>
                </a:solidFill>
                <a:latin typeface="Inter"/>
              </a:rPr>
              <a:t>candidatura</a:t>
            </a:r>
            <a:r>
              <a:rPr sz="900" b="0" i="0" dirty="0">
                <a:solidFill>
                  <a:srgbClr val="6D6A65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6D6A65"/>
                </a:solidFill>
                <a:latin typeface="Inter"/>
              </a:rPr>
              <a:t>mantiene</a:t>
            </a:r>
            <a:r>
              <a:rPr sz="900" b="0" i="0" dirty="0">
                <a:solidFill>
                  <a:srgbClr val="6D6A65"/>
                </a:solidFill>
                <a:latin typeface="Inter"/>
              </a:rPr>
              <a:t> una FRC </a:t>
            </a:r>
            <a:r>
              <a:rPr sz="900" b="0" i="0" dirty="0" err="1">
                <a:solidFill>
                  <a:srgbClr val="6D6A65"/>
                </a:solidFill>
                <a:latin typeface="Inter"/>
              </a:rPr>
              <a:t>positiva</a:t>
            </a:r>
            <a:r>
              <a:rPr sz="900" b="0" i="0" dirty="0">
                <a:solidFill>
                  <a:srgbClr val="6D6A65"/>
                </a:solidFill>
                <a:latin typeface="Inter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462272"/>
            <a:ext cx="1077163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" y="4462272"/>
            <a:ext cx="137160" cy="987552"/>
          </a:xfrm>
          <a:prstGeom prst="rect">
            <a:avLst/>
          </a:prstGeom>
          <a:solidFill>
            <a:srgbClr val="397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6360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973A3"/>
                </a:solidFill>
                <a:latin typeface="Inter"/>
              </a:rPr>
              <a:t>D17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4608576"/>
            <a:ext cx="31546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A2927"/>
                </a:solidFill>
                <a:latin typeface="Inter"/>
              </a:rPr>
              <a:t>Luis Manuel León Hernández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58114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IDR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800600"/>
            <a:ext cx="9144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 dirty="0">
                <a:solidFill>
                  <a:srgbClr val="147D62"/>
                </a:solidFill>
                <a:latin typeface="Inter"/>
              </a:rPr>
              <a:t>+1</a:t>
            </a:r>
            <a:r>
              <a:rPr lang="es-MX" sz="1750" b="1" i="0" dirty="0">
                <a:solidFill>
                  <a:srgbClr val="147D62"/>
                </a:solidFill>
                <a:latin typeface="Inter"/>
              </a:rPr>
              <a:t>6</a:t>
            </a:r>
            <a:r>
              <a:rPr sz="175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1750" b="1" i="0" dirty="0">
                <a:solidFill>
                  <a:srgbClr val="147D62"/>
                </a:solidFill>
                <a:latin typeface="Inter"/>
              </a:rPr>
              <a:t>7</a:t>
            </a:r>
            <a:r>
              <a:rPr sz="175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58114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AJUSTADO 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800600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A2927"/>
                </a:solidFill>
                <a:latin typeface="Inter"/>
              </a:rPr>
              <a:t>2.81%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58114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D6A65"/>
                </a:solidFill>
                <a:latin typeface="Inter"/>
              </a:rPr>
              <a:t>FRC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818888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C00000"/>
                </a:solidFill>
                <a:latin typeface="Inter"/>
              </a:rPr>
              <a:t>−0.70%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617720"/>
            <a:ext cx="274320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6A65"/>
                </a:solidFill>
                <a:latin typeface="Inter"/>
              </a:rPr>
              <a:t>El territorio avanza más que CDMX, pero la candidatura queda debajo de la mediana ajustada.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5815584"/>
            <a:ext cx="10771632" cy="34747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Inter"/>
              </a:rPr>
              <a:t>IDR = Desempeño Relativo del Territorio   ·   FRC = Fuerza Relativa Candidatura (aporte relativo a la marca)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IDR y FRC son complementarios: una divergencia entre ambos es información, no un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08 · LECTURA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Dos rankings, dos respuestas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IDR ordena territorios por avance relativo; FRC ordena candidaturas por fuerza relativa después de neutralizar el salto de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75104"/>
            <a:ext cx="5212080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21284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7A1F"/>
                </a:solidFill>
                <a:latin typeface="Inter"/>
              </a:rPr>
              <a:t>QUIÉN AVANZÓ MÁS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8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A2927"/>
                </a:solidFill>
                <a:latin typeface="Inter"/>
              </a:rPr>
              <a:t>Top 5 por IDR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4495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6A65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044952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2927"/>
                </a:solidFill>
                <a:latin typeface="Inter"/>
              </a:rPr>
              <a:t>D8 · Roberto Isaac García Mejía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3044952"/>
            <a:ext cx="80467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147D62"/>
                </a:solidFill>
                <a:latin typeface="Inter"/>
              </a:rPr>
              <a:t>+6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3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4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483864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6A65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483864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2927"/>
                </a:solidFill>
                <a:latin typeface="Inter"/>
              </a:rPr>
              <a:t>D3 · Luisa Fernanda Ledesma Alpizar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483864"/>
            <a:ext cx="80467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147D62"/>
                </a:solidFill>
                <a:latin typeface="Inter"/>
              </a:rPr>
              <a:t>+6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1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9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2277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6A65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922776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A2927"/>
                </a:solidFill>
                <a:latin typeface="Inter"/>
              </a:rPr>
              <a:t>D26 · Patricia Urriza Arellano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3922776"/>
            <a:ext cx="80467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147D62"/>
                </a:solidFill>
                <a:latin typeface="Inter"/>
              </a:rPr>
              <a:t>+4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4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2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361688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6A65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361688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A2927"/>
                </a:solidFill>
                <a:latin typeface="Inter"/>
              </a:rPr>
              <a:t>D15 · Óscar Hernández Frías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4361688"/>
            <a:ext cx="80467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147D62"/>
                </a:solidFill>
                <a:latin typeface="Inter"/>
              </a:rPr>
              <a:t>+3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4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9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80060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6A65"/>
                </a:solidFill>
                <a:latin typeface="Inte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800600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A2927"/>
                </a:solidFill>
                <a:latin typeface="Inter"/>
              </a:rPr>
              <a:t>D4 · Cristian Uriel Romero García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800600"/>
            <a:ext cx="80467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147D62"/>
                </a:solidFill>
                <a:latin typeface="Inter"/>
              </a:rPr>
              <a:t>+3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4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1019" b="1" i="0" dirty="0">
                <a:solidFill>
                  <a:srgbClr val="147D62"/>
                </a:solidFill>
                <a:latin typeface="Inter"/>
              </a:rPr>
              <a:t>4</a:t>
            </a:r>
            <a:r>
              <a:rPr sz="1019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975104"/>
            <a:ext cx="5321808" cy="345643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2212848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7A1F"/>
                </a:solidFill>
                <a:latin typeface="Inter"/>
              </a:rPr>
              <a:t>QUIÉN APORTA MÁS A LA MARCA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2532888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Top 5 por FRC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04495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AA6A1"/>
                </a:solidFill>
                <a:latin typeface="Inter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044952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Inter"/>
              </a:rPr>
              <a:t>D8 · Roberto Isaac García Mejía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3044952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47A1F"/>
                </a:solidFill>
                <a:latin typeface="Inter"/>
              </a:rPr>
              <a:t>+0.98%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483864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AA6A1"/>
                </a:solidFill>
                <a:latin typeface="Inter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483864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Inter"/>
              </a:rPr>
              <a:t>D3 · Luisa Fernanda Ledesma Alpizar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348386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47A1F"/>
                </a:solidFill>
                <a:latin typeface="Inter"/>
              </a:rPr>
              <a:t>+0.85%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392277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AA6A1"/>
                </a:solidFill>
                <a:latin typeface="Inter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922776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Inter"/>
              </a:rPr>
              <a:t>D11 · Alejandra Ortiz Pitalua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39227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47A1F"/>
                </a:solidFill>
                <a:latin typeface="Inter"/>
              </a:rPr>
              <a:t>+0.71%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4361688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AA6A1"/>
                </a:solidFill>
                <a:latin typeface="Inter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4361688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Inter"/>
              </a:rPr>
              <a:t>D4 · Cristian Uriel Romero García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4361688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47A1F"/>
                </a:solidFill>
                <a:latin typeface="Inter"/>
              </a:rPr>
              <a:t>+0.62%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480060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AA6A1"/>
                </a:solidFill>
                <a:latin typeface="Inte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4800600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Inter"/>
              </a:rPr>
              <a:t>D25 · Rizel Piccini Garcini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5872" y="4800600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47A1F"/>
                </a:solidFill>
                <a:latin typeface="Inter"/>
              </a:rPr>
              <a:t>+0.45%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696712"/>
            <a:ext cx="10561320" cy="393192"/>
          </a:xfrm>
          <a:prstGeom prst="roundRect">
            <a:avLst>
              <a:gd name="adj" fmla="val 8000"/>
            </a:avLst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7552" y="5806440"/>
            <a:ext cx="10195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A2927"/>
                </a:solidFill>
                <a:latin typeface="Inter"/>
              </a:rPr>
              <a:t>Coincidir en ambos rankings fortalece la señal. Divergir identifica dónde conviene revisar estructura territorial, campaña y perfil de candidatura.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IDR: crecimiento relativo vs CDMX. FRC: Resultado ajustado 2024 − Mediana del resultado ajustado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09 ·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Leaderboard completo · 1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27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Ordenado de mayor a menor FRC (posiciones 1–11). IDR muestra territorio; FRC mide el aporte de la candidatura frente a la mediana ajustada.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368" y="5641848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8" name="Grupo 97">
            <a:extLst>
              <a:ext uri="{FF2B5EF4-FFF2-40B4-BE49-F238E27FC236}">
                <a16:creationId xmlns:a16="http://schemas.microsoft.com/office/drawing/2014/main" id="{D9F4F977-D798-4E02-A118-1B1F2D2D8A28}"/>
              </a:ext>
            </a:extLst>
          </p:cNvPr>
          <p:cNvGrpSpPr/>
          <p:nvPr/>
        </p:nvGrpSpPr>
        <p:grpSpPr>
          <a:xfrm>
            <a:off x="658368" y="1505713"/>
            <a:ext cx="11190732" cy="4346448"/>
            <a:chOff x="658368" y="1874519"/>
            <a:chExt cx="10881360" cy="3977641"/>
          </a:xfrm>
        </p:grpSpPr>
        <p:sp>
          <p:nvSpPr>
            <p:cNvPr id="7" name="Rounded Rectangle 6"/>
            <p:cNvSpPr/>
            <p:nvPr/>
          </p:nvSpPr>
          <p:spPr>
            <a:xfrm>
              <a:off x="6172200" y="1874519"/>
              <a:ext cx="1143000" cy="256032"/>
            </a:xfrm>
            <a:prstGeom prst="roundRect">
              <a:avLst>
                <a:gd name="adj" fmla="val 8000"/>
              </a:avLst>
            </a:prstGeom>
            <a:solidFill>
              <a:srgbClr val="E8F2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172200" y="1929384"/>
              <a:ext cx="1143000" cy="137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80" b="1" i="0" dirty="0">
                  <a:solidFill>
                    <a:srgbClr val="147D62"/>
                  </a:solidFill>
                  <a:latin typeface="Inter"/>
                </a:rPr>
                <a:t>TERRITORIO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80576" y="1874519"/>
              <a:ext cx="1143000" cy="256032"/>
            </a:xfrm>
            <a:prstGeom prst="roundRect">
              <a:avLst>
                <a:gd name="adj" fmla="val 8000"/>
              </a:avLst>
            </a:prstGeom>
            <a:solidFill>
              <a:srgbClr val="FFF0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80576" y="1929384"/>
              <a:ext cx="1143000" cy="137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80" b="1" i="0">
                  <a:solidFill>
                    <a:srgbClr val="F47A1F"/>
                  </a:solidFill>
                  <a:latin typeface="Inter"/>
                </a:rPr>
                <a:t>CANDIDATURA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58368" y="2176272"/>
              <a:ext cx="10881360" cy="347472"/>
            </a:xfrm>
            <a:prstGeom prst="roundRect">
              <a:avLst>
                <a:gd name="adj" fmla="val 8000"/>
              </a:avLst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2104" y="2276856"/>
              <a:ext cx="3200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60" b="1" i="0">
                  <a:solidFill>
                    <a:srgbClr val="FFFFFF"/>
                  </a:solidFill>
                  <a:latin typeface="Inter"/>
                </a:rPr>
                <a:t>#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5296" y="2276856"/>
              <a:ext cx="5029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60" b="1" i="0">
                  <a:solidFill>
                    <a:srgbClr val="FFFFFF"/>
                  </a:solidFill>
                  <a:latin typeface="Inter"/>
                </a:rPr>
                <a:t>DTO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47088" y="2276856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" b="1" i="0">
                  <a:solidFill>
                    <a:srgbClr val="FFFFFF"/>
                  </a:solidFill>
                  <a:latin typeface="Inter"/>
                </a:rPr>
                <a:t>CANDIDATURA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90488" y="2276856"/>
              <a:ext cx="94183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60" b="1" i="0">
                  <a:solidFill>
                    <a:srgbClr val="FFFFFF"/>
                  </a:solidFill>
                  <a:latin typeface="Inter"/>
                </a:rPr>
                <a:t>IDR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79208" y="2276856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60" b="1" i="0">
                  <a:solidFill>
                    <a:srgbClr val="FFFFFF"/>
                  </a:solidFill>
                  <a:latin typeface="Inter"/>
                </a:rPr>
                <a:t>AJUSTADO FE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89720" y="2276856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60" b="1" i="0">
                  <a:solidFill>
                    <a:srgbClr val="FFFFFF"/>
                  </a:solidFill>
                  <a:latin typeface="Inter"/>
                </a:rPr>
                <a:t>FRC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8368" y="2578608"/>
              <a:ext cx="10881360" cy="265176"/>
            </a:xfrm>
            <a:prstGeom prst="rect">
              <a:avLst/>
            </a:prstGeom>
            <a:solidFill>
              <a:srgbClr val="FBFA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32104" y="2628900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5296" y="2628900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D8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47088" y="2624327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Roberto Isaac García Mejía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90488" y="2624327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+6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3.4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379208" y="2624327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4.50%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189720" y="2624327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+0.98%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58368" y="2884932"/>
              <a:ext cx="10881360" cy="265176"/>
            </a:xfrm>
            <a:prstGeom prst="rect">
              <a:avLst/>
            </a:prstGeom>
            <a:solidFill>
              <a:srgbClr val="F1EE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2104" y="2935224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25296" y="2935224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47088" y="2930651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Luisa Fernanda Ledesma Alpizar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90488" y="2930651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+6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1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.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9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9208" y="2930651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4.37%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89720" y="2930651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+0.85%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58368" y="3191256"/>
              <a:ext cx="10881360" cy="265176"/>
            </a:xfrm>
            <a:prstGeom prst="rect">
              <a:avLst/>
            </a:prstGeom>
            <a:solidFill>
              <a:srgbClr val="FBFA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32104" y="3241548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3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25296" y="3241548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D11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47088" y="3236975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Alejandra Ortiz Pitalua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90488" y="3236975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C00000"/>
                  </a:solidFill>
                  <a:latin typeface="Inter"/>
                </a:rPr>
                <a:t>-6.</a:t>
              </a:r>
              <a:r>
                <a:rPr lang="es-MX" sz="830" b="1" i="0" dirty="0">
                  <a:solidFill>
                    <a:srgbClr val="C00000"/>
                  </a:solidFill>
                  <a:latin typeface="Inter"/>
                </a:rPr>
                <a:t>5</a:t>
              </a:r>
              <a:r>
                <a:rPr sz="830" b="1" i="0" dirty="0">
                  <a:solidFill>
                    <a:srgbClr val="C00000"/>
                  </a:solidFill>
                  <a:latin typeface="Inter"/>
                </a:rPr>
                <a:t>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79208" y="3236975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4.23%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89720" y="3236975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+0.71%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58368" y="3497580"/>
              <a:ext cx="10881360" cy="265176"/>
            </a:xfrm>
            <a:prstGeom prst="rect">
              <a:avLst/>
            </a:prstGeom>
            <a:solidFill>
              <a:srgbClr val="F1EE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32104" y="3547872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25296" y="3547872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847088" y="3543300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Cristian Uriel Romero García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90488" y="3543300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+3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4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.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4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79208" y="3543300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4.14%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189720" y="3543300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+0.62%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58368" y="3803904"/>
              <a:ext cx="10881360" cy="265176"/>
            </a:xfrm>
            <a:prstGeom prst="rect">
              <a:avLst/>
            </a:prstGeom>
            <a:solidFill>
              <a:srgbClr val="FBFA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104" y="3854196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5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25296" y="3854196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D25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847088" y="3849624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Rizel Piccini Garcini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190488" y="3849624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</a:t>
              </a:r>
              <a:r>
                <a:rPr lang="es-MX" sz="830" b="1" dirty="0">
                  <a:solidFill>
                    <a:srgbClr val="147D62"/>
                  </a:solidFill>
                  <a:latin typeface="Inter"/>
                </a:rPr>
                <a:t>2.7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379208" y="3849624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3.96%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89720" y="3849624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+0.45%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58368" y="4110228"/>
              <a:ext cx="10881360" cy="265176"/>
            </a:xfrm>
            <a:prstGeom prst="rect">
              <a:avLst/>
            </a:prstGeom>
            <a:solidFill>
              <a:srgbClr val="F1EE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32104" y="4160520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6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225296" y="4160520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D26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847088" y="4155948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2A2927"/>
                  </a:solidFill>
                  <a:latin typeface="Inter"/>
                </a:rPr>
                <a:t>Patricia Urriza Arellano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190488" y="4155948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+4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4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.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26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379208" y="4155948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3.96%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189720" y="4155948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+0.44%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58368" y="4416552"/>
              <a:ext cx="10881360" cy="265176"/>
            </a:xfrm>
            <a:prstGeom prst="rect">
              <a:avLst/>
            </a:prstGeom>
            <a:solidFill>
              <a:srgbClr val="FBFA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32104" y="4466844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7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225296" y="4466844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D16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847088" y="4462272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2A2927"/>
                  </a:solidFill>
                  <a:latin typeface="Inter"/>
                </a:rPr>
                <a:t>Pedro Martín García Silva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190488" y="4462272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C00000"/>
                  </a:solidFill>
                  <a:latin typeface="Inter"/>
                </a:rPr>
                <a:t>-1</a:t>
              </a:r>
              <a:r>
                <a:rPr lang="es-MX" sz="830" b="1" i="0" dirty="0">
                  <a:solidFill>
                    <a:srgbClr val="C00000"/>
                  </a:solidFill>
                  <a:latin typeface="Inter"/>
                </a:rPr>
                <a:t>8.2</a:t>
              </a:r>
              <a:r>
                <a:rPr sz="830" b="1" i="0" dirty="0">
                  <a:solidFill>
                    <a:srgbClr val="C00000"/>
                  </a:solidFill>
                  <a:latin typeface="Inter"/>
                </a:rPr>
                <a:t>%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379208" y="4462272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3.86%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89720" y="4462272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+0.35%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58368" y="4722876"/>
              <a:ext cx="10881360" cy="265176"/>
            </a:xfrm>
            <a:prstGeom prst="rect">
              <a:avLst/>
            </a:prstGeom>
            <a:solidFill>
              <a:srgbClr val="F1EE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32104" y="4773168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8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225296" y="4773168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D7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847088" y="4768596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2A2927"/>
                  </a:solidFill>
                  <a:latin typeface="Inter"/>
                </a:rPr>
                <a:t>Rosario Ericka Gómez Romero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190488" y="4768596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C00000"/>
                  </a:solidFill>
                  <a:latin typeface="Inter"/>
                </a:rPr>
                <a:t>-29.</a:t>
              </a:r>
              <a:r>
                <a:rPr lang="es-MX" sz="830" b="1" i="0" dirty="0">
                  <a:solidFill>
                    <a:srgbClr val="C00000"/>
                  </a:solidFill>
                  <a:latin typeface="Inter"/>
                </a:rPr>
                <a:t>3</a:t>
              </a:r>
              <a:r>
                <a:rPr sz="830" b="1" i="0" dirty="0">
                  <a:solidFill>
                    <a:srgbClr val="C00000"/>
                  </a:solidFill>
                  <a:latin typeface="Inter"/>
                </a:rPr>
                <a:t>%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379208" y="4768596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3.86%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189720" y="4768596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+0.34%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58368" y="5029200"/>
              <a:ext cx="10881360" cy="265176"/>
            </a:xfrm>
            <a:prstGeom prst="rect">
              <a:avLst/>
            </a:prstGeom>
            <a:solidFill>
              <a:srgbClr val="FBFA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32104" y="5079492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9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225296" y="5079492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D15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847088" y="5074920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2A2927"/>
                  </a:solidFill>
                  <a:latin typeface="Inter"/>
                </a:rPr>
                <a:t>Óscar Hernández Frías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190488" y="5074920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+3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4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.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9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379208" y="5074920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3.78%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189720" y="5074920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+0.27%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58368" y="5335524"/>
              <a:ext cx="10881360" cy="265176"/>
            </a:xfrm>
            <a:prstGeom prst="rect">
              <a:avLst/>
            </a:prstGeom>
            <a:solidFill>
              <a:srgbClr val="F1EE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32104" y="5385816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10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225296" y="5385816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D1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847088" y="5381244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2A2927"/>
                  </a:solidFill>
                  <a:latin typeface="Inter"/>
                </a:rPr>
                <a:t>Elda Rosa Duarte Uscanga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190488" y="5381244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+2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4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.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5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379208" y="5381244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3.78%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9189720" y="5381244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+0.26%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32104" y="5692140"/>
              <a:ext cx="32004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80" b="1" i="0">
                  <a:solidFill>
                    <a:srgbClr val="6D6A65"/>
                  </a:solidFill>
                  <a:latin typeface="Inter"/>
                </a:rPr>
                <a:t>11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225296" y="5692140"/>
              <a:ext cx="5029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2A2927"/>
                  </a:solidFill>
                  <a:latin typeface="Inter"/>
                </a:rPr>
                <a:t>D20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847088" y="5687568"/>
              <a:ext cx="41605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2A2927"/>
                  </a:solidFill>
                  <a:latin typeface="Inter"/>
                </a:rPr>
                <a:t>Edmundo Josemaría Cruz Cotero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190488" y="5687568"/>
              <a:ext cx="941832" cy="1168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+3.</a:t>
              </a:r>
              <a:r>
                <a:rPr lang="es-MX" sz="830" b="1" i="0" dirty="0">
                  <a:solidFill>
                    <a:srgbClr val="147D62"/>
                  </a:solidFill>
                  <a:latin typeface="Inter"/>
                </a:rPr>
                <a:t>0</a:t>
              </a:r>
              <a:r>
                <a:rPr sz="830" b="1" i="0" dirty="0">
                  <a:solidFill>
                    <a:srgbClr val="147D62"/>
                  </a:solidFill>
                  <a:latin typeface="Inter"/>
                </a:rPr>
                <a:t>%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379208" y="5687568"/>
              <a:ext cx="129844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A2927"/>
                  </a:solidFill>
                  <a:latin typeface="Inter"/>
                </a:rPr>
                <a:t>3.77%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189720" y="5687568"/>
              <a:ext cx="1078992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47D62"/>
                  </a:solidFill>
                  <a:latin typeface="Inter"/>
                </a:rPr>
                <a:t>+0.25%</a:t>
              </a:r>
            </a:p>
          </p:txBody>
        </p:sp>
      </p:grpSp>
      <p:sp>
        <p:nvSpPr>
          <p:cNvPr id="95" name="Rounded Rectangle 94"/>
          <p:cNvSpPr/>
          <p:nvPr/>
        </p:nvSpPr>
        <p:spPr>
          <a:xfrm>
            <a:off x="658368" y="6062472"/>
            <a:ext cx="10881360" cy="301752"/>
          </a:xfrm>
          <a:prstGeom prst="roundRect">
            <a:avLst>
              <a:gd name="adj" fmla="val 8000"/>
            </a:avLst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41248" y="6144768"/>
            <a:ext cx="10469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A2927"/>
                </a:solidFill>
                <a:latin typeface="Inter"/>
              </a:rPr>
              <a:t>IDR &gt; 0: el distrito crece más que CDMX   |   FRC &gt; 0: la candidatura aporta por arriba de la mediana del resultado ajustado.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FE=2.834909 · FRC=(%2024/FE)−3.5165 · IDR=((%2024/%2021)/2.547558−1)×100.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10 ·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Leaderboard completo · 2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Ordenado de mayor a menor FRC (posiciones 12–22). IDR muestra territorio; FRC mide el aporte de la candidatura frente a la mediana ajustada.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E8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47D62"/>
                </a:solidFill>
                <a:latin typeface="Inter"/>
              </a:rPr>
              <a:t>TERRITORIO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0576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47A1F"/>
                </a:solidFill>
                <a:latin typeface="Inter"/>
              </a:rPr>
              <a:t>CANDIDATURA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10881360" cy="34747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2276856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27685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DTO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2276856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CANDIDATURA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276856"/>
            <a:ext cx="9418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IDR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27685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AJUSTADO 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276856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FRC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578608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" y="262890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62890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2624327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Ana Leticia Soto Reyes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624327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+1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1.8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2624327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3.73%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24327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+0.22%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884932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2935224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2935224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2930651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Alberto Castro Arrona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2930651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+17.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1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8" y="2930651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3.72%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930651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191256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324154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324154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7088" y="3236975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Erick Michel Angello Diep Gómez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3236975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+2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5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8" y="3236975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3.71%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236975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+0.19%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497580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" y="3547872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354787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47088" y="3543300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Karen Andrea González Zayas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3543300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+2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5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5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8" y="3543300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3.61%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543300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+0.09%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803904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" y="3854196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385419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47088" y="3849624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Leonardo Camacho Amezcua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3849624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+8.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79208" y="3849624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3.53%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849624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D6A65"/>
                </a:solidFill>
                <a:latin typeface="Inter"/>
              </a:rPr>
              <a:t>+0.02%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110228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" y="416052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5296" y="41605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47088" y="4155948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Natalia Fernanda Peralta Flores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0488" y="4155948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1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9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9208" y="4155948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3.52%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415594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D6A65"/>
                </a:solidFill>
                <a:latin typeface="Inter"/>
              </a:rPr>
              <a:t>0.00%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416552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" y="4466844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5296" y="4466844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47088" y="4462272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Marina Colón Salazar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90488" y="4462272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-2.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4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9208" y="4462272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3.49%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20" y="4462272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D6A65"/>
                </a:solidFill>
                <a:latin typeface="Inter"/>
              </a:rPr>
              <a:t>-0.03%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4722876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" y="477316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25296" y="477316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47088" y="4768596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Guadalupe Torres Quevedo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0488" y="4768596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dirty="0">
                <a:solidFill>
                  <a:srgbClr val="C00000"/>
                </a:solidFill>
                <a:latin typeface="Inter"/>
              </a:rPr>
              <a:t>11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476859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3.43%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89720" y="4768596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-0.09%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5029200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2104" y="5079492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5296" y="507949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47088" y="5074920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Arturo Guillén González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90488" y="5074920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0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dirty="0">
                <a:solidFill>
                  <a:srgbClr val="147D62"/>
                </a:solidFill>
                <a:latin typeface="Inter"/>
              </a:rPr>
              <a:t>4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79208" y="5074920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3.37%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9720" y="5074920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-0.14%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335524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32104" y="5385816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25296" y="538581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47088" y="5381244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Esteban Alejandro Barrales Magdaleno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0488" y="5381244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dirty="0">
                <a:solidFill>
                  <a:srgbClr val="C00000"/>
                </a:solidFill>
                <a:latin typeface="Inter"/>
              </a:rPr>
              <a:t>3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1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79208" y="5381244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3.36%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9720" y="5381244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-0.15%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368" y="5641848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2104" y="569214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25296" y="569214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47088" y="5687568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Juan Antonio Salinas Almaguer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90488" y="5687568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+10.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79208" y="5687568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3.31%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9720" y="5687568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-0.21%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" y="6062472"/>
            <a:ext cx="10881360" cy="301752"/>
          </a:xfrm>
          <a:prstGeom prst="roundRect">
            <a:avLst>
              <a:gd name="adj" fmla="val 8000"/>
            </a:avLst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41248" y="6144768"/>
            <a:ext cx="10469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A2927"/>
                </a:solidFill>
                <a:latin typeface="Inter"/>
              </a:rPr>
              <a:t>IDR &gt; 0: el distrito crece más que CDMX   |   FRC &gt; 0: la candidatura aporta por arriba de la mediana del resultado ajustado.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FE=2.834909 · FRC=(%2024/FE)−3.5165 · IDR=((%2024/%2021)/2.547558−1)×100.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11 ·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Leaderboard completo · 3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Ordenado de mayor a menor FRC (posiciones 23–33). IDR muestra territorio; FRC mide el aporte de la candidatura frente a la mediana ajustada.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E8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47D62"/>
                </a:solidFill>
                <a:latin typeface="Inter"/>
              </a:rPr>
              <a:t>TERRITORIO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0576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47A1F"/>
                </a:solidFill>
                <a:latin typeface="Inter"/>
              </a:rPr>
              <a:t>CANDIDATURA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10881360" cy="34747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2276856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27685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DTO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2276856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CANDIDATURA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276856"/>
            <a:ext cx="9418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IDR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27685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AJUSTADO 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276856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FRC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578608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" y="262890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62890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2624327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Ángel Noé Mendoza Arzate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624327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-63.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2624327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24327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-0.23%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884932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2935224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2935224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2930651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Samuel Carrillo Amezcua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2930651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+1.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3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8" y="2930651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3.16%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930651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-0.36%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191256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324154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324154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7088" y="3236975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Nancy Nava Venegas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3236975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-56.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8" y="3236975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3.13%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236975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-0.38%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497580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" y="3547872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354787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47088" y="3543300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Silvana Carranza Navarro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3543300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+21.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0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8" y="3543300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3.12%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543300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-0.39%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803904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" y="3854196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385419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47088" y="3849624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Lucía Alejandra Puente García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3849624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-10.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6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79208" y="3849624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3.01%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849624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-0.50%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110228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" y="416052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5296" y="41605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47088" y="4155948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Carol Stephany Luna Alvarado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0488" y="4155948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dirty="0">
                <a:solidFill>
                  <a:srgbClr val="C00000"/>
                </a:solidFill>
                <a:latin typeface="Inter"/>
              </a:rPr>
              <a:t>8.2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9208" y="4155948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2.87%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4155948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-0.65%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416552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" y="4466844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5296" y="4466844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47088" y="4462272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María del Carmen Santiago Vasconcelos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90488" y="4462272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-4.0%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9208" y="4462272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2.87%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20" y="4462272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-0.65%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4722876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" y="477316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25296" y="477316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D27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47088" y="4768596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Sonia Osorio Vázquez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0488" y="4768596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dirty="0">
                <a:solidFill>
                  <a:srgbClr val="147D62"/>
                </a:solidFill>
                <a:latin typeface="Inter"/>
              </a:rPr>
              <a:t>6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dirty="0">
                <a:solidFill>
                  <a:srgbClr val="147D62"/>
                </a:solidFill>
                <a:latin typeface="Inter"/>
              </a:rPr>
              <a:t>9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476859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2.84%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89720" y="4768596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-0.68%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5029200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2104" y="5079492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5296" y="507949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47088" y="5074920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Luis Manuel León Hernández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90488" y="5074920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+1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6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7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79208" y="5074920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2.81%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9720" y="5074920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-0.70%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335524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32104" y="5385816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32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25296" y="538581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47088" y="5381244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Leslie Fernanda Robles Rodríguez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0488" y="5381244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6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7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79208" y="5381244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2.65%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9720" y="5381244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-0.86%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368" y="5641848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2104" y="569214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33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25296" y="569214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927"/>
                </a:solidFill>
                <a:latin typeface="Inter"/>
              </a:rPr>
              <a:t>D31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47088" y="5687568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A2927"/>
                </a:solidFill>
                <a:latin typeface="Inter"/>
              </a:rPr>
              <a:t>Vicenta Huerta Martínez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90488" y="5687568"/>
            <a:ext cx="94183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-2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1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1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79208" y="5687568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2.63%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9720" y="5687568"/>
            <a:ext cx="1078992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-0.88%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" y="6062472"/>
            <a:ext cx="10881360" cy="301752"/>
          </a:xfrm>
          <a:prstGeom prst="roundRect">
            <a:avLst>
              <a:gd name="adj" fmla="val 8000"/>
            </a:avLst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41248" y="6144768"/>
            <a:ext cx="10469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A2927"/>
                </a:solidFill>
                <a:latin typeface="Inter"/>
              </a:rPr>
              <a:t>IDR &gt; 0: el distrito crece más que CDMX   |   FRC &gt; 0: la candidatura aporta por arriba de la mediana del resultado ajustado.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FE=2.834909 · FRC=(%2024/FE)−3.5165 · IDR=((%2024/%2021)/2.547558−1)×100.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12 · LEADERBOARD ALCALDÍAS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Leaderboard Alcaldías · 1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Ordenado de mayor a menor FRC (posiciones 1–8). IDR muestra territorio; FRC mide el aporte de la candidatura frente a la mediana ajustada.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E8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47D62"/>
                </a:solidFill>
                <a:latin typeface="Inter"/>
              </a:rPr>
              <a:t>TERRITORIO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0576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47A1F"/>
                </a:solidFill>
                <a:latin typeface="Inter"/>
              </a:rPr>
              <a:t>CANDIDATURA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10881360" cy="34747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000" y="2276856"/>
            <a:ext cx="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000" y="2276856"/>
            <a:ext cx="165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Inter"/>
              </a:rPr>
              <a:t>ALCALDÍA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0000" y="2276856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CANDIDATURA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0000" y="2276856"/>
            <a:ext cx="95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IDR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0000" y="2276856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 dirty="0">
                <a:solidFill>
                  <a:srgbClr val="FFFFFF"/>
                </a:solidFill>
                <a:latin typeface="Inter"/>
              </a:rPr>
              <a:t>AJUSTADO 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0000" y="2276856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FRC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578608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000" y="2628900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0000" y="2628900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Milpa 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0000" y="2624327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A2927"/>
                </a:solidFill>
                <a:latin typeface="Inter"/>
              </a:rPr>
              <a:t>Magali Alvarado Alvarez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0000" y="2624327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+1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55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5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000" y="2624327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2A2927"/>
                </a:solidFill>
                <a:latin typeface="Inter"/>
              </a:rPr>
              <a:t>5.26%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0000" y="2624327"/>
            <a:ext cx="110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+2.3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0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884932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000" y="2935224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0000" y="2935224"/>
            <a:ext cx="1650000" cy="120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780" b="1" i="0" dirty="0">
                <a:solidFill>
                  <a:srgbClr val="2A2927"/>
                </a:solidFill>
                <a:latin typeface="Inter"/>
              </a:rPr>
              <a:t>Azcapotzalco</a:t>
            </a:r>
            <a:endParaRPr sz="780" b="1" i="0" dirty="0">
              <a:solidFill>
                <a:srgbClr val="2A2927"/>
              </a:solidFill>
              <a:latin typeface="Int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00000" y="2930651"/>
            <a:ext cx="3200000" cy="120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780" b="1" dirty="0">
                <a:solidFill>
                  <a:srgbClr val="2A2927"/>
                </a:solidFill>
                <a:latin typeface="Inter"/>
              </a:rPr>
              <a:t>Luisa Yanira </a:t>
            </a:r>
            <a:r>
              <a:rPr lang="es-MX" sz="780" b="1" dirty="0" err="1">
                <a:solidFill>
                  <a:srgbClr val="2A2927"/>
                </a:solidFill>
                <a:latin typeface="Inter"/>
              </a:rPr>
              <a:t>Alpizar</a:t>
            </a:r>
            <a:r>
              <a:rPr lang="es-MX" sz="780" b="1" dirty="0">
                <a:solidFill>
                  <a:srgbClr val="2A2927"/>
                </a:solidFill>
                <a:latin typeface="Inter"/>
              </a:rPr>
              <a:t> Castellanos</a:t>
            </a:r>
            <a:endParaRPr sz="780" b="1" i="0" dirty="0">
              <a:solidFill>
                <a:srgbClr val="2A2927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50000" y="2930651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dirty="0">
                <a:solidFill>
                  <a:srgbClr val="147D62"/>
                </a:solidFill>
                <a:latin typeface="Inter"/>
              </a:rPr>
              <a:t>62.1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0000" y="2930651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2A2927"/>
                </a:solidFill>
                <a:latin typeface="Inter"/>
              </a:rPr>
              <a:t>3.</a:t>
            </a:r>
            <a:r>
              <a:rPr lang="es-MX" sz="830" b="1" i="0" dirty="0">
                <a:solidFill>
                  <a:srgbClr val="2A2927"/>
                </a:solidFill>
                <a:latin typeface="Inter"/>
              </a:rPr>
              <a:t>77</a:t>
            </a:r>
            <a:r>
              <a:rPr sz="830" b="1" i="0" dirty="0">
                <a:solidFill>
                  <a:srgbClr val="2A2927"/>
                </a:solidFill>
                <a:latin typeface="Inter"/>
              </a:rP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0000" y="2930651"/>
            <a:ext cx="110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+0.8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1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191256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0000" y="3241548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0000" y="3241548"/>
            <a:ext cx="1650000" cy="120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780" b="1" dirty="0">
                <a:solidFill>
                  <a:srgbClr val="2A2927"/>
                </a:solidFill>
                <a:latin typeface="Inter"/>
              </a:rPr>
              <a:t>GAM</a:t>
            </a:r>
            <a:endParaRPr sz="780" b="1" i="0" dirty="0">
              <a:solidFill>
                <a:srgbClr val="2A2927"/>
              </a:solidFill>
              <a:latin typeface="Inte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00000" y="3236975"/>
            <a:ext cx="3200000" cy="124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10" b="1" i="0" dirty="0">
                <a:solidFill>
                  <a:srgbClr val="2A2927"/>
                </a:solidFill>
                <a:latin typeface="Inter"/>
              </a:rPr>
              <a:t>Araceli </a:t>
            </a:r>
            <a:r>
              <a:rPr lang="es-MX" sz="810" b="1" i="0" dirty="0" err="1">
                <a:solidFill>
                  <a:srgbClr val="2A2927"/>
                </a:solidFill>
                <a:latin typeface="Inter"/>
              </a:rPr>
              <a:t>Garcia</a:t>
            </a:r>
            <a:r>
              <a:rPr lang="es-MX" sz="810" b="1" i="0" dirty="0">
                <a:solidFill>
                  <a:srgbClr val="2A2927"/>
                </a:solidFill>
                <a:latin typeface="Inter"/>
              </a:rPr>
              <a:t> Rico</a:t>
            </a:r>
            <a:endParaRPr sz="810" b="1" i="0" dirty="0">
              <a:solidFill>
                <a:srgbClr val="2A2927"/>
              </a:solidFill>
              <a:latin typeface="Inte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50000" y="3236975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42.9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0000" y="3236975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2A2927"/>
                </a:solidFill>
                <a:latin typeface="Inter"/>
              </a:rPr>
              <a:t>3.7</a:t>
            </a:r>
            <a:r>
              <a:rPr lang="es-MX" sz="830" b="1" i="0" dirty="0">
                <a:solidFill>
                  <a:srgbClr val="2A2927"/>
                </a:solidFill>
                <a:latin typeface="Inter"/>
              </a:rPr>
              <a:t>4</a:t>
            </a:r>
            <a:r>
              <a:rPr sz="830" b="1" i="0" dirty="0">
                <a:solidFill>
                  <a:srgbClr val="2A2927"/>
                </a:solidFill>
                <a:latin typeface="Inter"/>
              </a:rPr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0000" y="3236975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+0.78%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497580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000" y="3547872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0000" y="3547872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780" b="1" i="0" dirty="0">
                <a:solidFill>
                  <a:srgbClr val="2A2927"/>
                </a:solidFill>
                <a:latin typeface="Inter"/>
              </a:rPr>
              <a:t>Cuajimalpa</a:t>
            </a:r>
            <a:endParaRPr sz="780" b="1" i="0" dirty="0">
              <a:solidFill>
                <a:srgbClr val="2A2927"/>
              </a:solidFill>
              <a:latin typeface="Inte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900000" y="3543300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10" b="1" i="0" dirty="0">
                <a:solidFill>
                  <a:srgbClr val="2A2927"/>
                </a:solidFill>
                <a:latin typeface="Inter"/>
              </a:rPr>
              <a:t>Viridiana </a:t>
            </a:r>
            <a:r>
              <a:rPr lang="es-MX" sz="810" b="1" i="0" dirty="0" err="1">
                <a:solidFill>
                  <a:srgbClr val="2A2927"/>
                </a:solidFill>
                <a:latin typeface="Inter"/>
              </a:rPr>
              <a:t>Perez</a:t>
            </a:r>
            <a:r>
              <a:rPr lang="es-MX" sz="810" b="1" i="0" dirty="0">
                <a:solidFill>
                  <a:srgbClr val="2A2927"/>
                </a:solidFill>
                <a:latin typeface="Inter"/>
              </a:rPr>
              <a:t> Rojas</a:t>
            </a:r>
            <a:endParaRPr sz="810" b="1" i="0" dirty="0">
              <a:solidFill>
                <a:srgbClr val="2A2927"/>
              </a:solidFill>
              <a:latin typeface="Inter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50000" y="3543300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dirty="0">
                <a:solidFill>
                  <a:srgbClr val="147D62"/>
                </a:solidFill>
                <a:latin typeface="Inter"/>
              </a:rPr>
              <a:t>38.2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00000" y="3543300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30" b="1" i="0" dirty="0">
                <a:solidFill>
                  <a:srgbClr val="2A2927"/>
                </a:solidFill>
                <a:latin typeface="Inter"/>
              </a:rPr>
              <a:t>3.53</a:t>
            </a:r>
            <a:r>
              <a:rPr sz="830" b="1" i="0" dirty="0">
                <a:solidFill>
                  <a:srgbClr val="2A2927"/>
                </a:solidFill>
                <a:latin typeface="Inter"/>
              </a:rPr>
              <a:t>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0000" y="3543300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+0.57%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803904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0000" y="3854196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0000" y="3854196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Tláhuac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0000" y="3849624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dirty="0" err="1">
                <a:solidFill>
                  <a:srgbClr val="2A2927"/>
                </a:solidFill>
                <a:latin typeface="Inter"/>
              </a:rPr>
              <a:t>Lesvia</a:t>
            </a:r>
            <a:r>
              <a:rPr sz="810" b="1" i="0" dirty="0">
                <a:solidFill>
                  <a:srgbClr val="2A2927"/>
                </a:solidFill>
                <a:latin typeface="Inter"/>
              </a:rPr>
              <a:t> Gomez </a:t>
            </a:r>
            <a:r>
              <a:rPr sz="810" b="1" i="0" dirty="0" err="1">
                <a:solidFill>
                  <a:srgbClr val="2A2927"/>
                </a:solidFill>
                <a:latin typeface="Inter"/>
              </a:rPr>
              <a:t>Melgar</a:t>
            </a:r>
            <a:endParaRPr sz="810" b="1" i="0" dirty="0">
              <a:solidFill>
                <a:srgbClr val="2A2927"/>
              </a:solidFill>
              <a:latin typeface="Inter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50000" y="3849624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dirty="0">
                <a:solidFill>
                  <a:srgbClr val="147D62"/>
                </a:solidFill>
                <a:latin typeface="Inter"/>
              </a:rPr>
              <a:t>86.9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0000" y="3849624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2A2927"/>
                </a:solidFill>
                <a:latin typeface="Inter"/>
              </a:rPr>
              <a:t>3.</a:t>
            </a:r>
            <a:r>
              <a:rPr lang="es-MX" sz="830" b="1" i="0" dirty="0">
                <a:solidFill>
                  <a:srgbClr val="2A2927"/>
                </a:solidFill>
                <a:latin typeface="Inter"/>
              </a:rPr>
              <a:t>45</a:t>
            </a:r>
            <a:r>
              <a:rPr sz="830" b="1" i="0" dirty="0">
                <a:solidFill>
                  <a:srgbClr val="2A2927"/>
                </a:solidFill>
                <a:latin typeface="Inter"/>
              </a:rPr>
              <a:t>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0000" y="3849624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+0.49%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110228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0000" y="4160520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0000" y="4160520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Cuauhtémoc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00000" y="4155948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A2927"/>
                </a:solidFill>
                <a:latin typeface="Inter"/>
              </a:rPr>
              <a:t>Herman Fernando Dominguez Lozano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0000" y="4155948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dirty="0">
                <a:solidFill>
                  <a:srgbClr val="C00000"/>
                </a:solidFill>
                <a:latin typeface="Inter"/>
              </a:rPr>
              <a:t>6.5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00000" y="4155948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00000" y="4155948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+0.29%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416552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0000" y="4466844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0000" y="4466844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A2927"/>
                </a:solidFill>
                <a:latin typeface="Inter"/>
              </a:rPr>
              <a:t>Venustiano Carranza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0000" y="4462272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A2927"/>
                </a:solidFill>
                <a:latin typeface="Inter"/>
              </a:rPr>
              <a:t>Zurishaday Hernandez Hernandez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50000" y="4462272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25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0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00000" y="4462272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3.12%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00000" y="4462272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+0.16%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4722876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0000" y="4773168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80000" y="4773168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Xochimilco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00000" y="4768596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2A2927"/>
                </a:solidFill>
                <a:latin typeface="Inter"/>
              </a:rPr>
              <a:t>Adrian Chavez Ortiz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0000" y="4768596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dirty="0">
                <a:solidFill>
                  <a:srgbClr val="C00000"/>
                </a:solidFill>
                <a:latin typeface="Inter"/>
              </a:rPr>
              <a:t>28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0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00000" y="4768596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3.04%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00000" y="4768596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7D62"/>
                </a:solidFill>
                <a:latin typeface="Inter"/>
              </a:rPr>
              <a:t>+0.08%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" y="6062472"/>
            <a:ext cx="10881360" cy="301752"/>
          </a:xfrm>
          <a:prstGeom prst="roundRect">
            <a:avLst>
              <a:gd name="adj" fmla="val 8000"/>
            </a:avLst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41248" y="6144768"/>
            <a:ext cx="10469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A2927"/>
                </a:solidFill>
                <a:latin typeface="Inter"/>
              </a:rPr>
              <a:t>IDR &gt; 0: la alcaldía crece más que CDMX   |   FRC &gt; 0: la candidatura aporta por arriba de la mediana del resultado ajustado.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FE=2.520487 · FRC=(%2024/FE)−2.9584 · IDR=((%2024/%2021)/2.547558−1)×100.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13 · LEADERBOARD ALCALDÍAS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A2927"/>
                </a:solidFill>
                <a:latin typeface="Inter"/>
              </a:rPr>
              <a:t>Leaderboard Alcaldías · 2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D6A65"/>
                </a:solidFill>
                <a:latin typeface="Inter"/>
              </a:rPr>
              <a:t>Ordenado de mayor a menor FRC (posiciones 9–16). IDR muestra territorio; FRC mide el aporte de la candidatura frente a la mediana ajustada.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8B85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E8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47D62"/>
                </a:solidFill>
                <a:latin typeface="Inter"/>
              </a:rPr>
              <a:t>TERRITORIO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1874519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0576" y="192938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47A1F"/>
                </a:solidFill>
                <a:latin typeface="Inter"/>
              </a:rPr>
              <a:t>CANDIDATURA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10881360" cy="34747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000" y="2276856"/>
            <a:ext cx="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000" y="2276856"/>
            <a:ext cx="165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Inter"/>
              </a:rPr>
              <a:t>ALCALDÍA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0000" y="2276856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CANDIDATURA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0000" y="2276856"/>
            <a:ext cx="95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IDR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0000" y="2276856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AJUSTADO 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0000" y="2276856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Inter"/>
              </a:rPr>
              <a:t>FRC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578608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000" y="2628900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0000" y="2628900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Coyoacán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0000" y="2624327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A2927"/>
                </a:solidFill>
                <a:latin typeface="Inter"/>
              </a:rPr>
              <a:t>Sofia Margarita Provencio O Donoghue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0000" y="2624327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dirty="0">
                <a:solidFill>
                  <a:srgbClr val="C00000"/>
                </a:solidFill>
                <a:latin typeface="Inter"/>
              </a:rPr>
              <a:t>5.8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000" y="2624327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2.88%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0000" y="2624327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-0.08%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884932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000" y="2935224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0000" y="2935224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A2927"/>
                </a:solidFill>
                <a:latin typeface="Inter"/>
              </a:rPr>
              <a:t>La Magdalena Contreras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0000" y="2930651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A2927"/>
                </a:solidFill>
                <a:latin typeface="Inter"/>
              </a:rPr>
              <a:t>Daniela Nitza Garduño Alvarado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0000" y="2930651"/>
            <a:ext cx="95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-9.4%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0000" y="2930651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2.76%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0000" y="2930651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-0.20%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191256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0000" y="3241548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0000" y="3241548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Iztacalco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0000" y="3236975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2A2927"/>
                </a:solidFill>
                <a:latin typeface="Inter"/>
              </a:rPr>
              <a:t>Jesus Sanchez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0000" y="3236975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30" b="1" dirty="0">
                <a:solidFill>
                  <a:srgbClr val="2B8870"/>
                </a:solidFill>
                <a:latin typeface="Inter"/>
              </a:rPr>
              <a:t>10.2</a:t>
            </a:r>
            <a:r>
              <a:rPr sz="830" b="1" i="0" dirty="0">
                <a:solidFill>
                  <a:srgbClr val="2B8870"/>
                </a:solidFill>
                <a:latin typeface="Inter"/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0000" y="3236975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2.71%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0000" y="3236975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-0.25%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497580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000" y="3547872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0000" y="3547872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Iztapalapa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000" y="3543300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2A2927"/>
                </a:solidFill>
                <a:latin typeface="Inter"/>
              </a:rPr>
              <a:t>Alex Iran Pichardo Garcia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0000" y="3543300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8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7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00000" y="3543300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2.66%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0000" y="3543300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-0.30%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803904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0000" y="3854196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0000" y="3854196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Tlalpan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0000" y="3849624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2A2927"/>
                </a:solidFill>
                <a:latin typeface="Inter"/>
              </a:rPr>
              <a:t>Marina Aurora Marti Meza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0000" y="3849624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-7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9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0000" y="3849624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2.43%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0000" y="3849624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-0.53%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110228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0000" y="4160520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0000" y="4160520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Álvaro Obregón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00000" y="4155948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2A2927"/>
                </a:solidFill>
                <a:latin typeface="Inter"/>
              </a:rPr>
              <a:t>Sin Candidato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0000" y="4155948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</a:t>
            </a:r>
            <a:r>
              <a:rPr lang="es-MX" sz="830" b="1" dirty="0">
                <a:solidFill>
                  <a:srgbClr val="C00000"/>
                </a:solidFill>
                <a:latin typeface="Inter"/>
              </a:rPr>
              <a:t>0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.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2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00000" y="4155948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2.36%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00000" y="4155948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-0.60%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416552"/>
            <a:ext cx="10881360" cy="265176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0000" y="4466844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0000" y="4466844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Miguel Hidalgo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0000" y="4462272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2A2927"/>
                </a:solidFill>
                <a:latin typeface="Inter"/>
              </a:rPr>
              <a:t>Antonio Carbia Gutierrez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50000" y="4462272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i="0" dirty="0">
                <a:solidFill>
                  <a:srgbClr val="147D62"/>
                </a:solidFill>
                <a:latin typeface="Inter"/>
              </a:rPr>
              <a:t>33.3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00000" y="4462272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2.12%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00000" y="4462272"/>
            <a:ext cx="110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C00000"/>
                </a:solidFill>
                <a:latin typeface="Inter"/>
              </a:rPr>
              <a:t>-0.8</a:t>
            </a:r>
            <a:r>
              <a:rPr lang="es-MX" sz="830" b="1" i="0" dirty="0">
                <a:solidFill>
                  <a:srgbClr val="C00000"/>
                </a:solidFill>
                <a:latin typeface="Inter"/>
              </a:rPr>
              <a:t>4</a:t>
            </a:r>
            <a:r>
              <a:rPr sz="830" b="1" i="0" dirty="0">
                <a:solidFill>
                  <a:srgbClr val="C00000"/>
                </a:solidFill>
                <a:latin typeface="Inter"/>
              </a:rPr>
              <a:t>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4722876"/>
            <a:ext cx="10881360" cy="265176"/>
          </a:xfrm>
          <a:prstGeom prst="rect">
            <a:avLst/>
          </a:prstGeom>
          <a:solidFill>
            <a:srgbClr val="F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0000" y="4773168"/>
            <a:ext cx="3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6A65"/>
                </a:solidFill>
                <a:latin typeface="Inter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80000" y="4773168"/>
            <a:ext cx="165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A2927"/>
                </a:solidFill>
                <a:latin typeface="Inter"/>
              </a:rPr>
              <a:t>Benito Juárez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00000" y="4768596"/>
            <a:ext cx="32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2A2927"/>
                </a:solidFill>
                <a:latin typeface="Inter"/>
              </a:rPr>
              <a:t>Rodrigo Cordera Thacker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0000" y="4768596"/>
            <a:ext cx="950000" cy="12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 dirty="0">
                <a:solidFill>
                  <a:srgbClr val="147D62"/>
                </a:solidFill>
                <a:latin typeface="Inter"/>
              </a:rPr>
              <a:t>+</a:t>
            </a:r>
            <a:r>
              <a:rPr lang="es-MX" sz="830" b="1" i="0" dirty="0">
                <a:solidFill>
                  <a:srgbClr val="2B8870"/>
                </a:solidFill>
                <a:latin typeface="Inter"/>
              </a:rPr>
              <a:t>35.0</a:t>
            </a:r>
            <a:r>
              <a:rPr sz="830" b="1" i="0" dirty="0">
                <a:solidFill>
                  <a:srgbClr val="147D62"/>
                </a:solidFill>
                <a:latin typeface="Inter"/>
              </a:rPr>
              <a:t>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00000" y="4768596"/>
            <a:ext cx="13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A2927"/>
                </a:solidFill>
                <a:latin typeface="Inter"/>
              </a:rPr>
              <a:t>1.91%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00000" y="4768596"/>
            <a:ext cx="1100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00000"/>
                </a:solidFill>
                <a:latin typeface="Inter"/>
              </a:rPr>
              <a:t>-1.05%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" y="6062472"/>
            <a:ext cx="10881360" cy="301752"/>
          </a:xfrm>
          <a:prstGeom prst="roundRect">
            <a:avLst>
              <a:gd name="adj" fmla="val 8000"/>
            </a:avLst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41248" y="6144768"/>
            <a:ext cx="10469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A2927"/>
                </a:solidFill>
                <a:latin typeface="Inter"/>
              </a:rPr>
              <a:t>IDR &gt; 0: la alcaldía crece más que CDMX   |   FRC &gt; 0: la candidatura aporta por arriba de la mediana del resultado ajustado.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F8B85"/>
                </a:solidFill>
                <a:latin typeface="Inter"/>
              </a:rPr>
              <a:t>FE=2.520487 · FRC=(%2024/FE)−2.9584 · IDR=((%2024/%2021)/2.547558−1)×100.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A1F"/>
                </a:solidFill>
                <a:latin typeface="Inter"/>
              </a:rP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Inter"/>
              </a:rPr>
              <a:t>2024 nos dice cuánto obtuvimos.
IDR y FRC nos dicen cómo interpretarlo.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55664"/>
            <a:ext cx="3291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774"/>
                </a:solidFill>
                <a:latin typeface="Inter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1635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7A1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63824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FFFFF"/>
                </a:solidFill>
                <a:latin typeface="Inter"/>
              </a:rPr>
              <a:t>2024 fue una ruptura histórica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3317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C6C2BE"/>
                </a:solidFill>
                <a:latin typeface="Inter"/>
              </a:rPr>
              <a:t>9.55% VTE: más del doble del máximo previo y fuera del rango 2012–2021.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81635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7A1F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163824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FFFFF"/>
                </a:solidFill>
                <a:latin typeface="Inter"/>
              </a:rPr>
              <a:t>El salto no fue exclusivo de CDMX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840480"/>
            <a:ext cx="23317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C6C2BE"/>
                </a:solidFill>
                <a:latin typeface="Inter"/>
              </a:rPr>
              <a:t>Entidades con una base semejante también multiplicaron su votación: existió un impulso más amplio.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1635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7A1F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63824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FFFFF"/>
                </a:solidFill>
                <a:latin typeface="Inter"/>
              </a:rPr>
              <a:t>El Factor Escalar limpia el ruido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40480"/>
            <a:ext cx="23317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C6C2BE"/>
                </a:solidFill>
                <a:latin typeface="Inter"/>
              </a:rPr>
              <a:t>Normaliza el resultado extraordinario de 2024 para comparar candidaturas en una escala común.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39" y="281635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7A1F"/>
                </a:solidFill>
                <a:latin typeface="In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39" y="3163824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FFFFF"/>
                </a:solidFill>
                <a:latin typeface="Inter"/>
              </a:rPr>
              <a:t>Dos métricas, dos respuestas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3840480"/>
            <a:ext cx="23317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C6C2BE"/>
                </a:solidFill>
                <a:latin typeface="Inter"/>
              </a:rPr>
              <a:t>IDR indica qué distritos y alcaldías crecieron más que la Ciudad. FRC indica qué candidatura aportó al crecimiento de la marca / partido.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001768"/>
            <a:ext cx="10680192" cy="603504"/>
          </a:xfrm>
          <a:prstGeom prst="roundRect">
            <a:avLst>
              <a:gd name="adj" fmla="val 8000"/>
            </a:avLst>
          </a:prstGeom>
          <a:solidFill>
            <a:srgbClr val="F4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5175504"/>
            <a:ext cx="10287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Inter"/>
              </a:rPr>
              <a:t>IDR = Desempeño Relativo del Territorio   ·   FRC = Fuerza Relativa Candidatura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70448"/>
            <a:ext cx="10012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6C2BE"/>
                </a:solidFill>
                <a:latin typeface="Inter"/>
              </a:rPr>
              <a:t>La decisión política queda en la dirigencia; la doble métrica permite discutirla con menos intuición y mayor evidencia.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8E8984"/>
                </a:solidFill>
                <a:latin typeface="Inter"/>
              </a:rPr>
              <a:t>FRC = Resultado ajustado 2024 − Mediana del resultado ajustado 2024. La lectura final debe complementarse con estructura territorial, campaña, adversarios y participación.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2725</Words>
  <Application>Microsoft Office PowerPoint</Application>
  <PresentationFormat>Panorámica</PresentationFormat>
  <Paragraphs>632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HP</cp:lastModifiedBy>
  <cp:revision>10</cp:revision>
  <dcterms:created xsi:type="dcterms:W3CDTF">2013-01-27T09:14:16Z</dcterms:created>
  <dcterms:modified xsi:type="dcterms:W3CDTF">2026-09-10T22:54:05Z</dcterms:modified>
  <cp:category/>
</cp:coreProperties>
</file>